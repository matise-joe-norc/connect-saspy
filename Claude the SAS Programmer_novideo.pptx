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52" r:id="rId4"/>
  </p:sldMasterIdLst>
  <p:notesMasterIdLst>
    <p:notesMasterId r:id="rId32"/>
  </p:notesMasterIdLst>
  <p:handoutMasterIdLst>
    <p:handoutMasterId r:id="rId33"/>
  </p:handoutMasterIdLst>
  <p:sldIdLst>
    <p:sldId id="2147477452" r:id="rId5"/>
    <p:sldId id="2147479715" r:id="rId6"/>
    <p:sldId id="256" r:id="rId7"/>
    <p:sldId id="275" r:id="rId8"/>
    <p:sldId id="2147483647" r:id="rId9"/>
    <p:sldId id="2147477445" r:id="rId10"/>
    <p:sldId id="261" r:id="rId11"/>
    <p:sldId id="262" r:id="rId12"/>
    <p:sldId id="257" r:id="rId13"/>
    <p:sldId id="264" r:id="rId14"/>
    <p:sldId id="263" r:id="rId15"/>
    <p:sldId id="265" r:id="rId16"/>
    <p:sldId id="266" r:id="rId17"/>
    <p:sldId id="268" r:id="rId18"/>
    <p:sldId id="271" r:id="rId19"/>
    <p:sldId id="269" r:id="rId20"/>
    <p:sldId id="272" r:id="rId21"/>
    <p:sldId id="258" r:id="rId22"/>
    <p:sldId id="282" r:id="rId23"/>
    <p:sldId id="267" r:id="rId24"/>
    <p:sldId id="259" r:id="rId25"/>
    <p:sldId id="270" r:id="rId26"/>
    <p:sldId id="279" r:id="rId27"/>
    <p:sldId id="280" r:id="rId28"/>
    <p:sldId id="274" r:id="rId29"/>
    <p:sldId id="260" r:id="rId30"/>
    <p:sldId id="2147479714" r:id="rId31"/>
  </p:sldIdLst>
  <p:sldSz cx="18288000" cy="10287000"/>
  <p:notesSz cx="6858000" cy="9144000"/>
  <p:embeddedFontLst>
    <p:embeddedFont>
      <p:font typeface="Anova Bold" panose="020B0604020202020204" charset="0"/>
      <p:bold r:id="rId34"/>
      <p:italic r:id="rId35"/>
      <p:boldItalic r:id="rId36"/>
    </p:embeddedFont>
    <p:embeddedFont>
      <p:font typeface="Anova Light" panose="020B0604020202020204" charset="0"/>
      <p:regular r:id="rId37"/>
      <p:italic r:id="rId38"/>
    </p:embeddedFont>
  </p:embeddedFontLst>
  <p:custDataLst>
    <p:tags r:id="rId39"/>
  </p:custDataLst>
  <p:defaultTextStyle>
    <a:defPPr>
      <a:defRPr lang="en-US"/>
    </a:defPPr>
    <a:lvl1pPr marL="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B708D14-BD54-920F-18BB-8395E60AE589}" name="Alice McClure" initials="AM" userId="S::alice.mcclure@sas.com::6210c489-566a-4639-8da1-84bcfd842f43" providerId="AD"/>
  <p188:author id="{6DFEA739-C4EE-3CDE-94E6-A95954A908DE}" name="Tine Haaber" initials="TH" userId="S::Tine.Haaber@SAS.COM::b28dffea-6139-4081-9090-e82e8f8437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/>
  </p:normalViewPr>
  <p:slideViewPr>
    <p:cSldViewPr snapToGrid="0">
      <p:cViewPr varScale="1">
        <p:scale>
          <a:sx n="41" d="100"/>
          <a:sy n="41" d="100"/>
        </p:scale>
        <p:origin x="844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gs" Target="tags/tag1.xml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ags" Target="../tags/tag14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7A8A3785-BF0E-6C8B-8B7B-0521D7696A29}"/>
              </a:ext>
            </a:extLst>
          </p:cNvPr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1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300" cap="none" spc="50" normalizeH="0" baseline="0" noProof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FDEF6B2A-6211-F846-C47F-DC10CAA8C891}"/>
              </a:ext>
            </a:extLst>
          </p:cNvPr>
          <p:cNvSpPr txBox="1"/>
          <p:nvPr/>
        </p:nvSpPr>
        <p:spPr>
          <a:xfrm>
            <a:off x="2493335" y="8717132"/>
            <a:ext cx="187133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fld id="{C4EF46A2-9381-4C51-8277-3C7F2938E9F9}" type="slidenum">
              <a:rPr lang="en-US" sz="1000">
                <a:solidFill>
                  <a:schemeClr val="accent4"/>
                </a:solidFill>
                <a:latin typeface="+mj-lt"/>
              </a:rPr>
              <a:pPr algn="ctr" defTabSz="182880"/>
              <a:t>‹#›</a:t>
            </a:fld>
            <a:endParaRPr lang="en-US" sz="1000" b="1">
              <a:solidFill>
                <a:schemeClr val="accent4"/>
              </a:solidFill>
              <a:latin typeface="+mj-lt"/>
            </a:endParaRPr>
          </a:p>
        </p:txBody>
      </p:sp>
      <p:pic>
        <p:nvPicPr>
          <p:cNvPr id="7" name="Innovate Logo">
            <a:extLst>
              <a:ext uri="{FF2B5EF4-FFF2-40B4-BE49-F238E27FC236}">
                <a16:creationId xmlns:a16="http://schemas.microsoft.com/office/drawing/2014/main" id="{3B423C95-8827-65AD-D8E4-A9D17335A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7627" y="8692401"/>
            <a:ext cx="1108805" cy="295681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626892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novate Logo">
            <a:extLst>
              <a:ext uri="{FF2B5EF4-FFF2-40B4-BE49-F238E27FC236}">
                <a16:creationId xmlns:a16="http://schemas.microsoft.com/office/drawing/2014/main" id="{48B6EF21-956E-EE01-719A-6EFD0353D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7627" y="8692401"/>
            <a:ext cx="1108805" cy="295681"/>
          </a:xfrm>
          <a:prstGeom prst="rect">
            <a:avLst/>
          </a:prstGeom>
        </p:spPr>
      </p:pic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FAEC8D7-15A6-6F9F-E0B7-CB248431A52A}"/>
              </a:ext>
            </a:extLst>
          </p:cNvPr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1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300" cap="none" spc="50" normalizeH="0" baseline="0" noProof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F607DE50-086C-7432-5C71-ADF401D86D53}"/>
              </a:ext>
            </a:extLst>
          </p:cNvPr>
          <p:cNvSpPr txBox="1"/>
          <p:nvPr/>
        </p:nvSpPr>
        <p:spPr>
          <a:xfrm>
            <a:off x="2493335" y="8717132"/>
            <a:ext cx="187133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fld id="{C4EF46A2-9381-4C51-8277-3C7F2938E9F9}" type="slidenum">
              <a:rPr lang="en-US" sz="1000" smtClean="0">
                <a:solidFill>
                  <a:schemeClr val="tx2"/>
                </a:solidFill>
                <a:latin typeface="+mj-lt"/>
              </a:rPr>
              <a:pPr algn="ctr" defTabSz="182880"/>
              <a:t>‹#›</a:t>
            </a:fld>
            <a:endParaRPr lang="en-US" sz="100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5376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342900" indent="-342900" algn="l" defTabSz="1828800" rtl="0" eaLnBrk="1" latinLnBrk="0" hangingPunct="1">
      <a:buClr>
        <a:schemeClr val="accent5"/>
      </a:buClr>
      <a:buFont typeface="Anova Light" panose="020B0403020203020204" pitchFamily="34" charset="0"/>
      <a:buChar char="•"/>
      <a:defRPr sz="2400" b="0" i="0" kern="1200">
        <a:solidFill>
          <a:schemeClr val="tx1"/>
        </a:solidFill>
        <a:latin typeface="+mn-lt"/>
        <a:ea typeface="+mn-ea"/>
        <a:cs typeface="+mn-cs"/>
      </a:defRPr>
    </a:lvl1pPr>
    <a:lvl2pPr marL="1257300" indent="-342900" algn="l" defTabSz="1828800" rtl="0" eaLnBrk="1" latinLnBrk="0" hangingPunct="1">
      <a:buClr>
        <a:schemeClr val="accent5"/>
      </a:buClr>
      <a:buFont typeface="Anova Light" panose="020B0403020203020204" pitchFamily="34" charset="0"/>
      <a:buChar char="–"/>
      <a:defRPr sz="2000" b="0" i="0" kern="1200">
        <a:solidFill>
          <a:schemeClr val="tx1"/>
        </a:solidFill>
        <a:latin typeface="+mn-lt"/>
        <a:ea typeface="+mn-ea"/>
        <a:cs typeface="+mn-cs"/>
      </a:defRPr>
    </a:lvl2pPr>
    <a:lvl3pPr marL="2171700" indent="-342900" algn="l" defTabSz="1828800" rtl="0" eaLnBrk="1" latinLnBrk="0" hangingPunct="1">
      <a:buClr>
        <a:schemeClr val="accent5"/>
      </a:buClr>
      <a:buFont typeface="Anova Light" panose="020B0403020203020204" pitchFamily="34" charset="0"/>
      <a:buChar char="•"/>
      <a:defRPr sz="1800" b="0" i="0" kern="1200">
        <a:solidFill>
          <a:schemeClr val="tx1"/>
        </a:solidFill>
        <a:latin typeface="+mn-lt"/>
        <a:ea typeface="+mn-ea"/>
        <a:cs typeface="+mn-cs"/>
      </a:defRPr>
    </a:lvl3pPr>
    <a:lvl4pPr marL="3086100" indent="-342900" algn="l" defTabSz="1828800" rtl="0" eaLnBrk="1" latinLnBrk="0" hangingPunct="1">
      <a:buClr>
        <a:schemeClr val="accent5"/>
      </a:buClr>
      <a:buFont typeface="Anova Light" panose="020B0403020203020204" pitchFamily="34" charset="0"/>
      <a:buChar char="–"/>
      <a:defRPr sz="1600" b="0" i="0" kern="1200">
        <a:solidFill>
          <a:schemeClr val="tx1"/>
        </a:solidFill>
        <a:latin typeface="+mn-lt"/>
        <a:ea typeface="+mn-ea"/>
        <a:cs typeface="+mn-cs"/>
      </a:defRPr>
    </a:lvl4pPr>
    <a:lvl5pPr marL="4000500" indent="-342900" algn="l" defTabSz="1828800" rtl="0" eaLnBrk="1" latinLnBrk="0" hangingPunct="1">
      <a:buClr>
        <a:schemeClr val="accent5"/>
      </a:buClr>
      <a:buFont typeface="Anova Light" panose="020B0403020203020204" pitchFamily="34" charset="0"/>
      <a:buChar char="•"/>
      <a:defRPr sz="1400" b="0" i="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slide – show it writing code</a:t>
            </a:r>
          </a:p>
        </p:txBody>
      </p:sp>
    </p:spTree>
    <p:extLst>
      <p:ext uri="{BB962C8B-B14F-4D97-AF65-F5344CB8AC3E}">
        <p14:creationId xmlns:p14="http://schemas.microsoft.com/office/powerpoint/2010/main" val="4039212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of options/</a:t>
            </a:r>
            <a:r>
              <a:rPr lang="en-US" dirty="0" err="1"/>
              <a:t>etc</a:t>
            </a:r>
            <a:r>
              <a:rPr lang="en-US" dirty="0"/>
              <a:t> on a next slide</a:t>
            </a:r>
          </a:p>
        </p:txBody>
      </p:sp>
    </p:spTree>
    <p:extLst>
      <p:ext uri="{BB962C8B-B14F-4D97-AF65-F5344CB8AC3E}">
        <p14:creationId xmlns:p14="http://schemas.microsoft.com/office/powerpoint/2010/main" val="1160448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FABC-A635-7A93-3C17-841615F7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FD6E1-E061-F9C2-988B-742D19022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726B1-C8B6-323B-78F6-1C880A9CE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495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152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8.sv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4CFF31E-5970-2B3C-9065-71384F7EB7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" r="5"/>
          <a:stretch/>
        </p:blipFill>
        <p:spPr>
          <a:xfrm>
            <a:off x="0" y="0"/>
            <a:ext cx="18286010" cy="10287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3C029C-2B75-6173-4382-6F25D8352D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2431" y="1229026"/>
            <a:ext cx="3920819" cy="94519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0B94ACF-FBD5-D709-38B4-6C2101FA69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798" r="23581" b="12679"/>
          <a:stretch>
            <a:fillRect/>
          </a:stretch>
        </p:blipFill>
        <p:spPr>
          <a:xfrm>
            <a:off x="11901387" y="0"/>
            <a:ext cx="6386614" cy="10287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B679E91-B2F1-7013-ED34-D7763B6530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2432" y="3789284"/>
            <a:ext cx="12123722" cy="2646878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Slideshow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390F57-72E5-BAC5-624C-175BE96B85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2432" y="6635415"/>
            <a:ext cx="12123722" cy="923330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4800">
                <a:solidFill>
                  <a:schemeClr val="bg1"/>
                </a:solidFill>
              </a:defRPr>
            </a:lvl1pPr>
            <a:lvl2pPr marL="365760" indent="0">
              <a:buNone/>
              <a:defRPr>
                <a:solidFill>
                  <a:schemeClr val="accent3"/>
                </a:solidFill>
              </a:defRPr>
            </a:lvl2pPr>
            <a:lvl3pPr marL="731520" indent="0">
              <a:buNone/>
              <a:defRPr>
                <a:solidFill>
                  <a:schemeClr val="accent3"/>
                </a:solidFill>
              </a:defRPr>
            </a:lvl3pPr>
            <a:lvl4pPr marL="2057400" indent="0">
              <a:buNone/>
              <a:defRPr>
                <a:solidFill>
                  <a:schemeClr val="accent3"/>
                </a:solidFill>
              </a:defRPr>
            </a:lvl4pPr>
            <a:lvl5pPr marL="27432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Slideshow Subtitle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C09F2823-4E77-2A7D-7016-D7FDA3B5503B}"/>
              </a:ext>
            </a:extLst>
          </p:cNvPr>
          <p:cNvSpPr txBox="1"/>
          <p:nvPr userDrawn="1"/>
        </p:nvSpPr>
        <p:spPr>
          <a:xfrm>
            <a:off x="1252432" y="9855354"/>
            <a:ext cx="5029200" cy="246221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5486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3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8B09671-0A5C-6EDB-18B4-6D08DAC407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52432" y="8276977"/>
            <a:ext cx="7639044" cy="1057522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800">
                <a:solidFill>
                  <a:schemeClr val="accent3"/>
                </a:solidFill>
              </a:defRPr>
            </a:lvl1pPr>
            <a:lvl2pPr marL="365760" indent="0">
              <a:buNone/>
              <a:defRPr sz="2200">
                <a:solidFill>
                  <a:schemeClr val="accent3"/>
                </a:solidFill>
              </a:defRPr>
            </a:lvl2pPr>
            <a:lvl3pPr marL="731520" indent="0">
              <a:buNone/>
              <a:defRPr sz="2100">
                <a:solidFill>
                  <a:schemeClr val="accent3"/>
                </a:solidFill>
              </a:defRPr>
            </a:lvl3pPr>
            <a:lvl4pPr marL="2057400" indent="0">
              <a:buNone/>
              <a:defRPr sz="2000">
                <a:solidFill>
                  <a:schemeClr val="accent3"/>
                </a:solidFill>
              </a:defRPr>
            </a:lvl4pPr>
            <a:lvl5pPr marL="2743200" indent="0">
              <a:buNone/>
              <a:defRPr sz="2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Presenter Info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237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B679E91-B2F1-7013-ED34-D7763B6530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2432" y="3850838"/>
            <a:ext cx="12123722" cy="1292662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390F57-72E5-BAC5-624C-175BE96B85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2432" y="5342753"/>
            <a:ext cx="12123722" cy="923330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4800">
                <a:solidFill>
                  <a:schemeClr val="bg1"/>
                </a:solidFill>
              </a:defRPr>
            </a:lvl1pPr>
            <a:lvl2pPr marL="365760" indent="0">
              <a:buNone/>
              <a:defRPr>
                <a:solidFill>
                  <a:schemeClr val="accent3"/>
                </a:solidFill>
              </a:defRPr>
            </a:lvl2pPr>
            <a:lvl3pPr marL="731520" indent="0">
              <a:buNone/>
              <a:defRPr>
                <a:solidFill>
                  <a:schemeClr val="accent3"/>
                </a:solidFill>
              </a:defRPr>
            </a:lvl3pPr>
            <a:lvl4pPr marL="2057400" indent="0">
              <a:buNone/>
              <a:defRPr>
                <a:solidFill>
                  <a:schemeClr val="accent3"/>
                </a:solidFill>
              </a:defRPr>
            </a:lvl4pPr>
            <a:lvl5pPr marL="27432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Section Subtitle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C09F2823-4E77-2A7D-7016-D7FDA3B5503B}"/>
              </a:ext>
            </a:extLst>
          </p:cNvPr>
          <p:cNvSpPr txBox="1"/>
          <p:nvPr userDrawn="1"/>
        </p:nvSpPr>
        <p:spPr>
          <a:xfrm>
            <a:off x="1252432" y="9855354"/>
            <a:ext cx="5029200" cy="246221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5486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3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7302D65-4CA7-40B4-4AA9-9AF81C22CA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826158" y="9516543"/>
            <a:ext cx="1112812" cy="46192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2CCC289-03ED-6526-6407-D99062C10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2907" y="9516058"/>
            <a:ext cx="2532280" cy="2851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42259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6F060396-EEE3-A20F-EF3B-666AF6552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300" y="710304"/>
            <a:ext cx="15773400" cy="77559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/>
              <a:t>Click to Add Slide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998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40EF35-062A-4CF7-B99A-D6EF688F37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7300" y="1562100"/>
            <a:ext cx="15773400" cy="54938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365760" indent="0">
              <a:buNone/>
              <a:defRPr/>
            </a:lvl2pPr>
            <a:lvl3pPr marL="73152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906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E85CBA-188F-58DF-65B2-BD90C57AB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00300"/>
            <a:ext cx="15773400" cy="68651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3600"/>
            </a:lvl1pPr>
            <a:lvl2pPr>
              <a:defRPr sz="2800"/>
            </a:lvl2pPr>
            <a:lvl3pPr>
              <a:defRPr sz="2400"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A71ABFD-7D9E-8B81-8F10-AD3B259CD5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7300" y="1562100"/>
            <a:ext cx="15773400" cy="54938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365760" indent="0">
              <a:buNone/>
              <a:defRPr/>
            </a:lvl2pPr>
            <a:lvl3pPr marL="73152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865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37A3D09-8DDB-0D78-49A3-63D553286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299" y="2400300"/>
            <a:ext cx="7741846" cy="686514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3600"/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EB0C531-8D77-DB91-D733-89B75593C4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88856" y="2400300"/>
            <a:ext cx="7741848" cy="686514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3600"/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28E5A1D-0F7C-C89E-926C-359A1E6C4B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7300" y="1562100"/>
            <a:ext cx="15773400" cy="54938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365760" indent="0">
              <a:buNone/>
              <a:defRPr/>
            </a:lvl2pPr>
            <a:lvl3pPr marL="73152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217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32B69-D114-4F04-8825-FD80DE780B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300" y="4367905"/>
            <a:ext cx="4428276" cy="155119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9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CB0DC36-25B4-46CA-542D-A6308DDA0A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7299" y="5920995"/>
            <a:ext cx="5004350" cy="54938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365760" indent="0">
              <a:buNone/>
              <a:defRPr/>
            </a:lvl2pPr>
            <a:lvl3pPr marL="73152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E4D011-6D65-0AE8-97A7-B5392D2B3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2432" y="4150330"/>
            <a:ext cx="5001768" cy="1554480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Click to Add Slide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2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C1968F1-6D8F-F84F-BA5B-51E28AE729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" r="5"/>
          <a:stretch/>
        </p:blipFill>
        <p:spPr>
          <a:xfrm>
            <a:off x="0" y="0"/>
            <a:ext cx="18286010" cy="10287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B679E91-B2F1-7013-ED34-D7763B6530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2432" y="4497169"/>
            <a:ext cx="13063133" cy="1292662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Slideshow Closing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54AD1B71-161A-0685-52AE-DACFD1DA227B}"/>
              </a:ext>
            </a:extLst>
          </p:cNvPr>
          <p:cNvSpPr txBox="1"/>
          <p:nvPr userDrawn="1"/>
        </p:nvSpPr>
        <p:spPr>
          <a:xfrm>
            <a:off x="1252432" y="9855354"/>
            <a:ext cx="5029200" cy="246221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5486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3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DF0488D-C718-86ED-0D8D-12DA1B12FA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4384" y="8411168"/>
            <a:ext cx="8199172" cy="9233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612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28454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">
            <a:extLst>
              <a:ext uri="{FF2B5EF4-FFF2-40B4-BE49-F238E27FC236}">
                <a16:creationId xmlns:a16="http://schemas.microsoft.com/office/drawing/2014/main" id="{18EFE3EC-F7E1-61AB-19DD-00EC88725FB3}"/>
              </a:ext>
            </a:extLst>
          </p:cNvPr>
          <p:cNvSpPr txBox="1"/>
          <p:nvPr userDrawn="1"/>
        </p:nvSpPr>
        <p:spPr>
          <a:xfrm>
            <a:off x="1252432" y="9855354"/>
            <a:ext cx="5029200" cy="246221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5486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3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3282D473-65B9-422F-2640-EFCB2AC77D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826158" y="9516543"/>
            <a:ext cx="1112812" cy="46192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2B23F3-81E1-3293-CAB0-CC44D43150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2907" y="9516058"/>
            <a:ext cx="2532280" cy="2851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268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S - Speaker Intro Tw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9AF8C70-262A-7E6D-5B3A-61F97D8ED6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642" r="4642"/>
          <a:stretch/>
        </p:blipFill>
        <p:spPr>
          <a:xfrm>
            <a:off x="1990" y="2213910"/>
            <a:ext cx="18288000" cy="4314056"/>
          </a:xfrm>
          <a:prstGeom prst="rect">
            <a:avLst/>
          </a:prstGeom>
        </p:spPr>
      </p:pic>
      <p:sp>
        <p:nvSpPr>
          <p:cNvPr id="3" name="Footer">
            <a:extLst>
              <a:ext uri="{FF2B5EF4-FFF2-40B4-BE49-F238E27FC236}">
                <a16:creationId xmlns:a16="http://schemas.microsoft.com/office/drawing/2014/main" id="{D4DF6D35-D899-DF4E-7229-703FCF78FF8B}"/>
              </a:ext>
            </a:extLst>
          </p:cNvPr>
          <p:cNvSpPr txBox="1"/>
          <p:nvPr userDrawn="1"/>
        </p:nvSpPr>
        <p:spPr>
          <a:xfrm>
            <a:off x="1252432" y="9855354"/>
            <a:ext cx="5029200" cy="246221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5486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3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E8F1E4AE-9626-FE14-687A-73B3899DE05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48874" y="2223466"/>
            <a:ext cx="4630267" cy="4631165"/>
          </a:xfrm>
          <a:prstGeom prst="ellipse">
            <a:avLst/>
          </a:prstGeom>
          <a:solidFill>
            <a:schemeClr val="bg1">
              <a:alpha val="50000"/>
            </a:schemeClr>
          </a:solidFill>
          <a:effectLst>
            <a:outerShdw blurRad="88900" dist="63500" dir="5400000" algn="ctr" rotWithShape="0">
              <a:schemeClr val="accent4">
                <a:alpha val="40000"/>
              </a:scheme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3A820-44E0-4FDA-E74B-D70E0400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13AD2AD9-7C1F-ACF8-EE9A-A2456741EC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08860" y="2223466"/>
            <a:ext cx="4630267" cy="4631165"/>
          </a:xfrm>
          <a:prstGeom prst="ellipse">
            <a:avLst/>
          </a:prstGeom>
          <a:solidFill>
            <a:schemeClr val="bg1">
              <a:alpha val="50000"/>
            </a:schemeClr>
          </a:solidFill>
          <a:effectLst>
            <a:outerShdw blurRad="88900" dist="63500" dir="5400000" algn="ctr" rotWithShape="0">
              <a:schemeClr val="accent4">
                <a:alpha val="40000"/>
              </a:scheme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D28313-CB31-5A01-5334-BF299B4B7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07839" y="7226393"/>
            <a:ext cx="4712337" cy="997196"/>
          </a:xfrm>
        </p:spPr>
        <p:txBody>
          <a:bodyPr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INSERT SPEAKER NAME HERE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679FA28-7F98-8C8D-4872-01F27C4AB5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7839" y="8408576"/>
            <a:ext cx="4712337" cy="387798"/>
          </a:xfrm>
        </p:spPr>
        <p:txBody>
          <a:bodyPr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speaker title here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026C528-C048-4A1E-11D8-6155B0548C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67825" y="7226393"/>
            <a:ext cx="4712337" cy="997196"/>
          </a:xfrm>
        </p:spPr>
        <p:txBody>
          <a:bodyPr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INSERT SPEAKER NAME HERE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EFF24594-27F4-2F84-6F21-208B66401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67825" y="8408576"/>
            <a:ext cx="4712337" cy="387798"/>
          </a:xfrm>
        </p:spPr>
        <p:txBody>
          <a:bodyPr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speaker title here</a:t>
            </a: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B3CA5B83-7E42-F627-69D5-B9EEF7C753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826158" y="9516543"/>
            <a:ext cx="1112812" cy="46192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9873EFD-18B2-2676-57EC-5FBD334BA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2907" y="9516058"/>
            <a:ext cx="2532280" cy="28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1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2432" y="2400300"/>
            <a:ext cx="15773400" cy="68651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2432" y="710304"/>
            <a:ext cx="15773400" cy="77559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Add Slide Title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D9D6F26-29E5-D918-7C7A-FA079AE21FE3}"/>
              </a:ext>
            </a:extLst>
          </p:cNvPr>
          <p:cNvSpPr txBox="1"/>
          <p:nvPr userDrawn="1"/>
        </p:nvSpPr>
        <p:spPr>
          <a:xfrm>
            <a:off x="1252432" y="9855354"/>
            <a:ext cx="5029200" cy="246221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5486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300" cap="none" spc="10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1D3296CB-2A8B-07BE-D8F1-B10A329CE9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6826158" y="9516543"/>
            <a:ext cx="1112812" cy="46192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F3641DD-D869-7C85-3308-952583C41C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42907" y="9516058"/>
            <a:ext cx="2532280" cy="285167"/>
          </a:xfrm>
          <a:prstGeom prst="rect">
            <a:avLst/>
          </a:prstGeom>
        </p:spPr>
      </p:pic>
    </p:spTree>
    <p:custDataLst>
      <p:tags r:id="rId14"/>
    </p:custDataLst>
    <p:extLst>
      <p:ext uri="{BB962C8B-B14F-4D97-AF65-F5344CB8AC3E}">
        <p14:creationId xmlns:p14="http://schemas.microsoft.com/office/powerpoint/2010/main" val="4027619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5600" b="1" i="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371600" rtl="0" eaLnBrk="1" latinLnBrk="0" hangingPunct="1">
        <a:lnSpc>
          <a:spcPct val="85000"/>
        </a:lnSpc>
        <a:spcBef>
          <a:spcPts val="1600"/>
        </a:spcBef>
        <a:buClr>
          <a:schemeClr val="accent5"/>
        </a:buClr>
        <a:buFont typeface="Anova Light" panose="020B0403020203020204" pitchFamily="34" charset="0"/>
        <a:buChar char="•"/>
        <a:defRPr sz="36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365760" algn="l" defTabSz="1371600" rtl="0" eaLnBrk="1" latinLnBrk="0" hangingPunct="1">
        <a:lnSpc>
          <a:spcPct val="85000"/>
        </a:lnSpc>
        <a:spcBef>
          <a:spcPts val="1600"/>
        </a:spcBef>
        <a:buClr>
          <a:schemeClr val="accent5"/>
        </a:buClr>
        <a:buFont typeface="Anova Light" panose="020B0403020203020204" pitchFamily="34" charset="0"/>
        <a:buChar char="–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365760" algn="l" defTabSz="1371600" rtl="0" eaLnBrk="1" latinLnBrk="0" hangingPunct="1">
        <a:lnSpc>
          <a:spcPct val="85000"/>
        </a:lnSpc>
        <a:spcBef>
          <a:spcPts val="1600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nova Light" panose="020B0403020203020204" pitchFamily="34" charset="0"/>
        <a:buChar char="•"/>
        <a:defRPr sz="2700" kern="1200">
          <a:solidFill>
            <a:schemeClr val="bg2"/>
          </a:solidFill>
          <a:latin typeface="+mj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nova Light" panose="020B0403020203020204" pitchFamily="34" charset="0"/>
        <a:buChar char="•"/>
        <a:defRPr sz="2700" kern="1200">
          <a:solidFill>
            <a:schemeClr val="bg2"/>
          </a:solidFill>
          <a:latin typeface="+mj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nova Light" panose="020B0403020203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nova Light" panose="020B0403020203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nova Light" panose="020B0403020203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nova Light" panose="020B0403020203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hyperlink" Target="https://code.claude.com/docs/en/vs-code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ssoftware/saspy/releases" TargetMode="External"/><Relationship Id="rId2" Type="http://schemas.openxmlformats.org/officeDocument/2006/relationships/hyperlink" Target="https://support.sas.com/en/software/saspy.html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assoftware.github.io/saspy/configuration.html#ssh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sassoftware.github.io/saspy/configuration.html#com" TargetMode="External"/><Relationship Id="rId4" Type="http://schemas.openxmlformats.org/officeDocument/2006/relationships/hyperlink" Target="https://sassoftware.github.io/saspy/configuration.html#iom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matise-joe-norc/connect-saspy/" TargetMode="Externa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9243-70D5-96F5-4E16-EB1F107E0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538" y="3788847"/>
            <a:ext cx="12123737" cy="2646878"/>
          </a:xfrm>
        </p:spPr>
        <p:txBody>
          <a:bodyPr/>
          <a:lstStyle/>
          <a:p>
            <a:r>
              <a:rPr lang="en-US" dirty="0"/>
              <a:t>Claude the SAS Programmer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31E6F-53E6-856E-7983-0080677A4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2432" y="6635415"/>
            <a:ext cx="12123722" cy="923330"/>
          </a:xfrm>
        </p:spPr>
        <p:txBody>
          <a:bodyPr/>
          <a:lstStyle/>
          <a:p>
            <a:r>
              <a:rPr lang="en-US" dirty="0"/>
              <a:t>Agentic AI creates SAS 9 code before your eyes</a:t>
            </a:r>
          </a:p>
        </p:txBody>
      </p:sp>
    </p:spTree>
    <p:extLst>
      <p:ext uri="{BB962C8B-B14F-4D97-AF65-F5344CB8AC3E}">
        <p14:creationId xmlns:p14="http://schemas.microsoft.com/office/powerpoint/2010/main" val="369011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89D3835-9DB0-FFAF-FAEC-F38E65D1103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" r="17"/>
          <a:stretch>
            <a:fillRect/>
          </a:stretch>
        </p:blipFill>
        <p:spPr>
          <a:xfrm>
            <a:off x="11214887" y="1970494"/>
            <a:ext cx="4630267" cy="4631165"/>
          </a:xfrm>
          <a:prstGeom prst="ellipse">
            <a:avLst/>
          </a:prstGeom>
          <a:solidFill>
            <a:srgbClr val="FFFFFF">
              <a:alpha val="50000"/>
            </a:srgbClr>
          </a:solidFill>
          <a:effectLst>
            <a:outerShdw blurRad="88900" dist="63500" dir="5400000" algn="ctr" rotWithShape="0">
              <a:srgbClr val="032954">
                <a:alpha val="40000"/>
              </a:srgb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C103812-7A6C-D0BC-3924-95540D76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 for </a:t>
            </a:r>
            <a:r>
              <a:rPr lang="en-US" dirty="0" err="1"/>
              <a:t>Powerpoint</a:t>
            </a:r>
            <a:r>
              <a:rPr lang="en-US" dirty="0"/>
              <a:t> + Code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F5FA22-46BF-9368-03FC-36979051CF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173852" y="6973421"/>
            <a:ext cx="4712337" cy="498598"/>
          </a:xfrm>
        </p:spPr>
        <p:txBody>
          <a:bodyPr/>
          <a:lstStyle/>
          <a:p>
            <a:r>
              <a:rPr lang="en-US" dirty="0"/>
              <a:t>Joe Matise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CD3ED5-59BB-8E70-585D-3C05CE8767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14887" y="7843781"/>
            <a:ext cx="4712337" cy="775597"/>
          </a:xfrm>
        </p:spPr>
        <p:txBody>
          <a:bodyPr/>
          <a:lstStyle/>
          <a:p>
            <a:r>
              <a:rPr lang="en-US" dirty="0"/>
              <a:t>Supervisor, Data Engineering, NORC</a:t>
            </a:r>
          </a:p>
        </p:txBody>
      </p:sp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805B8378-8AC8-28E2-EB80-A3790FB14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846" y="27622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78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1F238-05BE-1124-79CA-A18943A0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F6660-56FD-0812-F0EA-FC678979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Agenda</a:t>
            </a:r>
          </a:p>
        </p:txBody>
      </p:sp>
      <p:sp>
        <p:nvSpPr>
          <p:cNvPr id="14" name="Rectangle: Rounded Corners 4">
            <a:extLst>
              <a:ext uri="{FF2B5EF4-FFF2-40B4-BE49-F238E27FC236}">
                <a16:creationId xmlns:a16="http://schemas.microsoft.com/office/drawing/2014/main" id="{97919BA2-F17E-6DF9-2884-847B9CD63F74}"/>
              </a:ext>
            </a:extLst>
          </p:cNvPr>
          <p:cNvSpPr/>
          <p:nvPr/>
        </p:nvSpPr>
        <p:spPr>
          <a:xfrm>
            <a:off x="9249195" y="7525115"/>
            <a:ext cx="7781504" cy="1067166"/>
          </a:xfrm>
          <a:prstGeom prst="roundRect">
            <a:avLst>
              <a:gd name="adj" fmla="val 9216"/>
            </a:avLst>
          </a:prstGeom>
          <a:gradFill flip="none" rotWithShape="1">
            <a:gsLst>
              <a:gs pos="10000">
                <a:schemeClr val="accent4">
                  <a:alpha val="10000"/>
                </a:schemeClr>
              </a:gs>
              <a:gs pos="72000">
                <a:schemeClr val="accent4">
                  <a:alpha val="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Conclusion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5431E69-CF8B-68D0-5426-B52D7D9986BD}"/>
              </a:ext>
            </a:extLst>
          </p:cNvPr>
          <p:cNvSpPr/>
          <p:nvPr/>
        </p:nvSpPr>
        <p:spPr>
          <a:xfrm>
            <a:off x="9249195" y="6218582"/>
            <a:ext cx="7781504" cy="1067166"/>
          </a:xfrm>
          <a:prstGeom prst="roundRect">
            <a:avLst>
              <a:gd name="adj" fmla="val 9216"/>
            </a:avLst>
          </a:prstGeom>
          <a:gradFill flip="none" rotWithShape="1">
            <a:gsLst>
              <a:gs pos="10000">
                <a:schemeClr val="accent4">
                  <a:alpha val="10000"/>
                </a:schemeClr>
              </a:gs>
              <a:gs pos="72000">
                <a:schemeClr val="accent4">
                  <a:alpha val="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Prompt Engineering: Programming the Programmer</a:t>
            </a:r>
          </a:p>
        </p:txBody>
      </p:sp>
      <p:sp>
        <p:nvSpPr>
          <p:cNvPr id="16" name="Rectangle: Rounded Corners 4">
            <a:extLst>
              <a:ext uri="{FF2B5EF4-FFF2-40B4-BE49-F238E27FC236}">
                <a16:creationId xmlns:a16="http://schemas.microsoft.com/office/drawing/2014/main" id="{92BC95F9-B9C6-DE4B-DA18-D0989F8BD597}"/>
              </a:ext>
            </a:extLst>
          </p:cNvPr>
          <p:cNvSpPr/>
          <p:nvPr/>
        </p:nvSpPr>
        <p:spPr>
          <a:xfrm>
            <a:off x="9249195" y="4912050"/>
            <a:ext cx="7781504" cy="1067166"/>
          </a:xfrm>
          <a:prstGeom prst="roundRect">
            <a:avLst>
              <a:gd name="adj" fmla="val 9216"/>
            </a:avLst>
          </a:prstGeom>
          <a:gradFill flip="none" rotWithShape="1">
            <a:gsLst>
              <a:gs pos="10000">
                <a:schemeClr val="accent4">
                  <a:alpha val="10000"/>
                </a:schemeClr>
              </a:gs>
              <a:gs pos="72000">
                <a:schemeClr val="accent4">
                  <a:alpha val="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Anova Light"/>
              </a:rPr>
              <a:t>Let’s Code!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nova Light"/>
              <a:ea typeface="+mn-ea"/>
              <a:cs typeface="+mn-cs"/>
            </a:endParaRPr>
          </a:p>
        </p:txBody>
      </p:sp>
      <p:sp>
        <p:nvSpPr>
          <p:cNvPr id="17" name="Rectangle: Rounded Corners 4">
            <a:extLst>
              <a:ext uri="{FF2B5EF4-FFF2-40B4-BE49-F238E27FC236}">
                <a16:creationId xmlns:a16="http://schemas.microsoft.com/office/drawing/2014/main" id="{EAD791B2-3AE2-71CA-70BB-B24E825DB56B}"/>
              </a:ext>
            </a:extLst>
          </p:cNvPr>
          <p:cNvSpPr/>
          <p:nvPr/>
        </p:nvSpPr>
        <p:spPr>
          <a:xfrm>
            <a:off x="9249195" y="3605519"/>
            <a:ext cx="7781504" cy="1067166"/>
          </a:xfrm>
          <a:prstGeom prst="roundRect">
            <a:avLst>
              <a:gd name="adj" fmla="val 9216"/>
            </a:avLst>
          </a:prstGeom>
          <a:gradFill flip="none" rotWithShape="1">
            <a:gsLst>
              <a:gs pos="10000">
                <a:schemeClr val="accent4">
                  <a:alpha val="10000"/>
                </a:schemeClr>
              </a:gs>
              <a:gs pos="72000">
                <a:schemeClr val="accent4">
                  <a:alpha val="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Using Agentic AI with SAS: Tools Required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F9494C5-A760-DB12-D0B5-E07431C16B53}"/>
              </a:ext>
            </a:extLst>
          </p:cNvPr>
          <p:cNvSpPr/>
          <p:nvPr/>
        </p:nvSpPr>
        <p:spPr>
          <a:xfrm>
            <a:off x="8754967" y="3791631"/>
            <a:ext cx="694944" cy="694944"/>
          </a:xfrm>
          <a:prstGeom prst="ellipse">
            <a:avLst/>
          </a:prstGeom>
          <a:gradFill flip="none" rotWithShape="1">
            <a:gsLst>
              <a:gs pos="73000">
                <a:schemeClr val="accent2"/>
              </a:gs>
              <a:gs pos="100000">
                <a:schemeClr val="accent3">
                  <a:lumMod val="9000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33D242-39F9-6233-91E9-33874F160FAC}"/>
              </a:ext>
            </a:extLst>
          </p:cNvPr>
          <p:cNvSpPr/>
          <p:nvPr/>
        </p:nvSpPr>
        <p:spPr>
          <a:xfrm>
            <a:off x="8754967" y="5098161"/>
            <a:ext cx="694944" cy="694944"/>
          </a:xfrm>
          <a:prstGeom prst="ellipse">
            <a:avLst/>
          </a:prstGeom>
          <a:gradFill flip="none" rotWithShape="1">
            <a:gsLst>
              <a:gs pos="73000">
                <a:schemeClr val="accent2"/>
              </a:gs>
              <a:gs pos="100000">
                <a:schemeClr val="accent3">
                  <a:lumMod val="9000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4FF1126-3F73-BB6B-589A-E4BE4F6F951A}"/>
              </a:ext>
            </a:extLst>
          </p:cNvPr>
          <p:cNvSpPr/>
          <p:nvPr/>
        </p:nvSpPr>
        <p:spPr>
          <a:xfrm>
            <a:off x="8754967" y="6404691"/>
            <a:ext cx="694944" cy="694944"/>
          </a:xfrm>
          <a:prstGeom prst="ellipse">
            <a:avLst/>
          </a:prstGeom>
          <a:gradFill flip="none" rotWithShape="1">
            <a:gsLst>
              <a:gs pos="73000">
                <a:schemeClr val="accent2"/>
              </a:gs>
              <a:gs pos="100000">
                <a:schemeClr val="accent3">
                  <a:lumMod val="9000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22A038-18F1-3EF9-0670-E6C681AE5B6F}"/>
              </a:ext>
            </a:extLst>
          </p:cNvPr>
          <p:cNvSpPr/>
          <p:nvPr/>
        </p:nvSpPr>
        <p:spPr>
          <a:xfrm>
            <a:off x="8754967" y="7711223"/>
            <a:ext cx="694944" cy="694944"/>
          </a:xfrm>
          <a:prstGeom prst="ellipse">
            <a:avLst/>
          </a:prstGeom>
          <a:gradFill flip="none" rotWithShape="1">
            <a:gsLst>
              <a:gs pos="73000">
                <a:schemeClr val="accent2"/>
              </a:gs>
              <a:gs pos="100000">
                <a:schemeClr val="accent3">
                  <a:lumMod val="9000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5</a:t>
            </a:r>
          </a:p>
        </p:txBody>
      </p:sp>
      <p:sp>
        <p:nvSpPr>
          <p:cNvPr id="22" name="Rectangle: Rounded Corners 4">
            <a:extLst>
              <a:ext uri="{FF2B5EF4-FFF2-40B4-BE49-F238E27FC236}">
                <a16:creationId xmlns:a16="http://schemas.microsoft.com/office/drawing/2014/main" id="{B238B463-AC86-37F0-3681-FC05F52D2339}"/>
              </a:ext>
            </a:extLst>
          </p:cNvPr>
          <p:cNvSpPr/>
          <p:nvPr/>
        </p:nvSpPr>
        <p:spPr>
          <a:xfrm>
            <a:off x="9249195" y="2298989"/>
            <a:ext cx="7781504" cy="1067166"/>
          </a:xfrm>
          <a:prstGeom prst="roundRect">
            <a:avLst>
              <a:gd name="adj" fmla="val 9216"/>
            </a:avLst>
          </a:prstGeom>
          <a:gradFill flip="none" rotWithShape="1">
            <a:gsLst>
              <a:gs pos="10000">
                <a:schemeClr val="accent4">
                  <a:alpha val="10000"/>
                </a:schemeClr>
              </a:gs>
              <a:gs pos="72000">
                <a:schemeClr val="accent4">
                  <a:alpha val="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Introduction – What is Agentic AI?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5D9CB11-E752-3E19-7A55-1E6904F173B8}"/>
              </a:ext>
            </a:extLst>
          </p:cNvPr>
          <p:cNvSpPr/>
          <p:nvPr/>
        </p:nvSpPr>
        <p:spPr>
          <a:xfrm>
            <a:off x="8754967" y="2485100"/>
            <a:ext cx="694944" cy="694944"/>
          </a:xfrm>
          <a:prstGeom prst="ellipse">
            <a:avLst/>
          </a:prstGeom>
          <a:gradFill flip="none" rotWithShape="1">
            <a:gsLst>
              <a:gs pos="73000">
                <a:schemeClr val="accent2"/>
              </a:gs>
              <a:gs pos="100000">
                <a:schemeClr val="accent3">
                  <a:lumMod val="9000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C588D-3D26-2CC3-6155-A011D804D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303" y="4386894"/>
            <a:ext cx="4597810" cy="4597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8DD7A2-98AB-6A69-5A62-E25765ECD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58" y="1283861"/>
            <a:ext cx="6667500" cy="33147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15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38DC2-C5F3-E704-3B70-6A59FCB4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13F2B-F6E8-FE68-782C-DD8404F8E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802195"/>
            <a:ext cx="15773400" cy="6463252"/>
          </a:xfrm>
        </p:spPr>
        <p:txBody>
          <a:bodyPr>
            <a:normAutofit lnSpcReduction="10000"/>
          </a:bodyPr>
          <a:lstStyle/>
          <a:p>
            <a:r>
              <a:rPr lang="en-US" sz="4400" dirty="0"/>
              <a:t>This presentation is targeted to SAS 9.4, not SAS Viya.  See the sessions about SAS Viya MCP for more information there!</a:t>
            </a:r>
            <a:br>
              <a:rPr lang="en-US" sz="4400" dirty="0"/>
            </a:br>
            <a:endParaRPr lang="en-US" sz="4400" dirty="0"/>
          </a:p>
          <a:p>
            <a:r>
              <a:rPr lang="en-US" sz="4400" dirty="0"/>
              <a:t>Most of what I present here applies to any Agentic AI solution, but Claude Code is the solution I tested this with and use for the examples.</a:t>
            </a:r>
            <a:br>
              <a:rPr lang="en-US" sz="4400" dirty="0"/>
            </a:br>
            <a:endParaRPr lang="en-US" sz="4400" dirty="0"/>
          </a:p>
          <a:p>
            <a:r>
              <a:rPr lang="en-US" sz="4400" dirty="0"/>
              <a:t>As with any AI solution – use this with caution and skepticism of the results.  Read the documentation for your chosen solution how to protect yourself from the Agentic AI doing dangerous things.</a:t>
            </a:r>
          </a:p>
          <a:p>
            <a:endParaRPr lang="en-US" sz="4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8D18B-A577-2D1A-D712-0AF90C088E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8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2F7CF9-04AD-A373-3BCD-A8A4AFDB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Agentic AI?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4DF6B-D9BA-443C-6E72-0C833ED26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8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0FB32-0D1F-1A70-5F6E-1882DF49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Agentic AI?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F2D229-AF8F-050D-B182-D5CA94E69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3996813"/>
            <a:ext cx="15773400" cy="526863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400" i="1" dirty="0"/>
          </a:p>
          <a:p>
            <a:r>
              <a:rPr lang="en-US" sz="4400" dirty="0"/>
              <a:t>The ability to run code independently and verify the results is a key differentiator for Agentic AI</a:t>
            </a:r>
          </a:p>
          <a:p>
            <a:endParaRPr lang="en-US" sz="4400" dirty="0"/>
          </a:p>
          <a:p>
            <a:r>
              <a:rPr lang="en-US" sz="4400" dirty="0"/>
              <a:t>In order for Agentic AI to function at its full potential, there must be a connection between the AI and SAS.</a:t>
            </a:r>
          </a:p>
          <a:p>
            <a:endParaRPr lang="en-US" sz="4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B31EB0-6E09-9F21-FE7A-0E03464C7D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20529" y="2020529"/>
            <a:ext cx="13465277" cy="1091381"/>
          </a:xfrm>
        </p:spPr>
        <p:txBody>
          <a:bodyPr>
            <a:normAutofit fontScale="92500"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Agentic AI can independently break down complex tasks, use tools, and iterate on solutions with minimal human intervention. </a:t>
            </a:r>
            <a:r>
              <a:rPr lang="en-US" sz="2400" dirty="0">
                <a:solidFill>
                  <a:schemeClr val="tx1"/>
                </a:solidFill>
              </a:rPr>
              <a:t> (Claude Sonnet 4.5)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6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05C4-F0CE-3171-12CE-5E360705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Agentic AI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89FA0C-903B-CA4F-E733-667A5BB32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Claude Code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D8184E-37DF-87B6-3094-A1D677F8413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Codex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CF9DAC-5253-26F0-D949-BA8BA08150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E2DA40-BDD3-E74D-1C32-A9756BB8D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320" y="4022970"/>
            <a:ext cx="3619803" cy="36198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21B094-790E-4F0B-1EB6-E411472DB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355" y="2825544"/>
            <a:ext cx="5692878" cy="569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7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E098F-4170-DFCC-87CF-B8BE2EF83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FF89-0B45-A053-5EC2-527A63DD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Agentic AI?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5E2A73-6ACB-1CC9-B7AC-E35001EF3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3495369"/>
            <a:ext cx="15773400" cy="57700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i="1" dirty="0"/>
          </a:p>
          <a:p>
            <a:r>
              <a:rPr lang="en-US" dirty="0"/>
              <a:t>Agentic AI does not replace the programmer – it changes the relationship with the code.</a:t>
            </a:r>
          </a:p>
          <a:p>
            <a:r>
              <a:rPr lang="en-US" dirty="0"/>
              <a:t>Agentic AI is a tool that can increase productivity when used properly</a:t>
            </a:r>
          </a:p>
          <a:p>
            <a:r>
              <a:rPr lang="en-US" dirty="0"/>
              <a:t>Guiding the AI to produce code that gives good results is not an easy task!</a:t>
            </a:r>
          </a:p>
          <a:p>
            <a:r>
              <a:rPr lang="en-US" dirty="0"/>
              <a:t>When used with good tests and well-developed prompts, Agentic AI can reduce the time to deliver results significantly.</a:t>
            </a:r>
          </a:p>
          <a:p>
            <a:r>
              <a:rPr lang="en-US" dirty="0"/>
              <a:t>Also strongly consider this for data exploration – similar to how Visual Analytics is often used.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7F43F-0152-77D7-4D89-52CDCA3F3B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975F3-B7E3-0B5A-C00B-DFAA3A031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F5082E-39E5-99CF-30FB-2E4F94201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432" y="2742843"/>
            <a:ext cx="12123722" cy="2400657"/>
          </a:xfrm>
        </p:spPr>
        <p:txBody>
          <a:bodyPr/>
          <a:lstStyle/>
          <a:p>
            <a:r>
              <a:rPr lang="en-US" dirty="0"/>
              <a:t>Tools for using SAS with Agentic AI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F38C1-00CA-D610-ABAA-518C8A9EC6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2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FA9B-1656-1E41-43F7-B8E7C515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084A-DE37-722A-9259-F320A47D9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  <a:p>
            <a:pPr lvl="1"/>
            <a:r>
              <a:rPr lang="en-US" dirty="0"/>
              <a:t>How do you interact with the Agentic AI?</a:t>
            </a:r>
          </a:p>
          <a:p>
            <a:pPr lvl="1"/>
            <a:endParaRPr lang="en-US" dirty="0"/>
          </a:p>
          <a:p>
            <a:r>
              <a:rPr lang="en-US" dirty="0"/>
              <a:t>The Agentic AI solution</a:t>
            </a:r>
          </a:p>
          <a:p>
            <a:pPr lvl="1"/>
            <a:r>
              <a:rPr lang="en-US" dirty="0"/>
              <a:t>This depends on your interface</a:t>
            </a:r>
          </a:p>
          <a:p>
            <a:pPr lvl="1"/>
            <a:r>
              <a:rPr lang="en-US" dirty="0"/>
              <a:t>Follow the interface-specific configuration steps</a:t>
            </a:r>
          </a:p>
          <a:p>
            <a:pPr lvl="1"/>
            <a:endParaRPr lang="en-US" dirty="0"/>
          </a:p>
          <a:p>
            <a:r>
              <a:rPr lang="en-US" dirty="0"/>
              <a:t>Method of connecting to SAS</a:t>
            </a:r>
          </a:p>
          <a:p>
            <a:pPr lvl="1"/>
            <a:r>
              <a:rPr lang="en-US" dirty="0"/>
              <a:t>How does the Agentic AI submit SAS code?</a:t>
            </a:r>
          </a:p>
          <a:p>
            <a:pPr lvl="1"/>
            <a:r>
              <a:rPr lang="en-US" dirty="0"/>
              <a:t>How does the Agentic AI read the results of the SAS code?</a:t>
            </a: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52524-E013-F7C7-2BE3-C36F7193A1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167974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EEB52-B9EC-5771-0E20-4D70B286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E7BD4C-F752-5AAC-82F1-6CB705CDF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3495369"/>
            <a:ext cx="15773400" cy="577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Options for Agentic AI</a:t>
            </a:r>
          </a:p>
          <a:p>
            <a:r>
              <a:rPr lang="en-US" dirty="0"/>
              <a:t>Standalone (command line/terminal)</a:t>
            </a:r>
          </a:p>
          <a:p>
            <a:r>
              <a:rPr lang="en-US" dirty="0"/>
              <a:t>Component to IDE like VS Code</a:t>
            </a:r>
          </a:p>
          <a:p>
            <a:r>
              <a:rPr lang="en-US" dirty="0"/>
              <a:t>Chat-like interface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Recommendation: VS Code Extension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https://code.visualstudio.com/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hlinkClick r:id="rId4"/>
              </a:rPr>
              <a:t>https://code.claude.com/docs/en/vs-code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B68F3-0878-7ECE-D6E8-C4C918AB45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Interface Options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3D08C-C5B9-7102-202C-2E0B15A5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98A348-DE5A-4CD0-1BA0-FDC40C730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700" y="2890069"/>
            <a:ext cx="7130434" cy="450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3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3596-BD94-CBE8-9CCE-4EFEE21A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2B42D-F182-0A24-25E3-51407697F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Options for submitting SAS code</a:t>
            </a:r>
          </a:p>
          <a:p>
            <a:r>
              <a:rPr lang="en-US" dirty="0"/>
              <a:t>Direct SAS connection via batch submission at the command line</a:t>
            </a:r>
          </a:p>
          <a:p>
            <a:r>
              <a:rPr lang="en-US" dirty="0" err="1"/>
              <a:t>SASPy</a:t>
            </a:r>
            <a:r>
              <a:rPr lang="en-US" dirty="0"/>
              <a:t> – via Python</a:t>
            </a:r>
          </a:p>
          <a:p>
            <a:r>
              <a:rPr lang="en-US" i="1" dirty="0"/>
              <a:t>SAS Viya has API options available as well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Recommendation: </a:t>
            </a:r>
            <a:r>
              <a:rPr lang="en-US" dirty="0" err="1"/>
              <a:t>SASPy</a:t>
            </a:r>
            <a:r>
              <a:rPr lang="en-US" dirty="0"/>
              <a:t>; most flexible and best parsing of results.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D9F4F-162D-E242-277E-D651FDB49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Backend Options for submitting SAS Code</a:t>
            </a:r>
          </a:p>
        </p:txBody>
      </p:sp>
    </p:spTree>
    <p:extLst>
      <p:ext uri="{BB962C8B-B14F-4D97-AF65-F5344CB8AC3E}">
        <p14:creationId xmlns:p14="http://schemas.microsoft.com/office/powerpoint/2010/main" val="225215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607A2-C640-138B-1CEA-740D487F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A4C3F-B0C9-8BA4-352F-C33A21FD4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SASPy</a:t>
            </a:r>
            <a:r>
              <a:rPr lang="en-US" i="1" dirty="0"/>
              <a:t> is an open source Python package that allows Python coders to access SAS data and analytics capabilities. Add </a:t>
            </a:r>
            <a:r>
              <a:rPr lang="en-US" i="1" dirty="0" err="1"/>
              <a:t>SASPy</a:t>
            </a:r>
            <a:r>
              <a:rPr lang="en-US" i="1" dirty="0"/>
              <a:t> to your Python environment, configure it to connect to your SAS environment, and begin using Python to access SAS.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dirty="0">
                <a:hlinkClick r:id="rId2"/>
              </a:rPr>
              <a:t>https://support.sas.com/en/software/saspy.html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https://github.com/sassoftware/saspy/releases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268C5-3F48-5CF6-FEFC-739477458A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SASPy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0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0321-DFEE-626D-ED9B-3FB313EA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B4FF-CEED-6A7A-D961-601EFF3D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9D1DC-4ED6-4F95-0BC2-2948BCB3A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Option 1: SSH  - </a:t>
            </a:r>
            <a:r>
              <a:rPr lang="en-US" dirty="0">
                <a:hlinkClick r:id="rId3"/>
              </a:rPr>
              <a:t>https://sassoftware.github.io/saspy/configuration.html#ssh</a:t>
            </a:r>
            <a:endParaRPr lang="en-US" dirty="0"/>
          </a:p>
          <a:p>
            <a:pPr lvl="1"/>
            <a:r>
              <a:rPr lang="en-US" dirty="0"/>
              <a:t>This is the common terminal connection, which allows SSH-based connectivity and works with both Linux and Windows servers. Works best with simple configurations.</a:t>
            </a:r>
          </a:p>
          <a:p>
            <a:r>
              <a:rPr lang="en-US" dirty="0"/>
              <a:t>Option 2: IOM - </a:t>
            </a:r>
            <a:r>
              <a:rPr lang="en-US" dirty="0">
                <a:hlinkClick r:id="rId4"/>
              </a:rPr>
              <a:t>https://sassoftware.github.io/saspy/configuration.html#iom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This is useful for more complex configurations, including Grid. </a:t>
            </a:r>
          </a:p>
          <a:p>
            <a:pPr lvl="1"/>
            <a:r>
              <a:rPr lang="en-US" dirty="0"/>
              <a:t>Requires Java </a:t>
            </a:r>
          </a:p>
          <a:p>
            <a:r>
              <a:rPr lang="en-US" dirty="0"/>
              <a:t>Option 3: COM – </a:t>
            </a:r>
            <a:r>
              <a:rPr lang="en-US" dirty="0">
                <a:hlinkClick r:id="rId5"/>
              </a:rPr>
              <a:t>https://sassoftware.github.io/saspy/configuration.html#com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This only works for Windows clients, but avoids using Java!</a:t>
            </a:r>
          </a:p>
          <a:p>
            <a:r>
              <a:rPr lang="en-US" dirty="0"/>
              <a:t>For all options, determine how you will connect – type in password interactively, use .</a:t>
            </a:r>
            <a:r>
              <a:rPr lang="en-US" dirty="0" err="1"/>
              <a:t>authinfo</a:t>
            </a:r>
            <a:r>
              <a:rPr lang="en-US" dirty="0"/>
              <a:t>/_</a:t>
            </a:r>
            <a:r>
              <a:rPr lang="en-US" dirty="0" err="1"/>
              <a:t>authinfo</a:t>
            </a:r>
            <a:r>
              <a:rPr lang="en-US" dirty="0"/>
              <a:t>, or other options.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D3A26-B15A-E4CC-3BAC-1185758653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Configuring </a:t>
            </a:r>
            <a:r>
              <a:rPr lang="en-US" dirty="0" err="1"/>
              <a:t>SASPy</a:t>
            </a:r>
            <a:r>
              <a:rPr lang="en-US" dirty="0"/>
              <a:t> for SAS Server connections</a:t>
            </a:r>
          </a:p>
        </p:txBody>
      </p:sp>
    </p:spTree>
    <p:extLst>
      <p:ext uri="{BB962C8B-B14F-4D97-AF65-F5344CB8AC3E}">
        <p14:creationId xmlns:p14="http://schemas.microsoft.com/office/powerpoint/2010/main" val="141308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926C-0C03-B92B-EBE9-B5D67606E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356CF-4835-59F0-D12E-C5D12FB0C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00300"/>
            <a:ext cx="7212932" cy="6865146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https://github.com/matise-joe-norc/connect-saspy/</a:t>
            </a:r>
            <a:endParaRPr lang="en-US" dirty="0"/>
          </a:p>
          <a:p>
            <a:r>
              <a:rPr lang="en-US" dirty="0"/>
              <a:t>Useful Python code for helping the Agentic AI easily connect to </a:t>
            </a:r>
            <a:r>
              <a:rPr lang="en-US" dirty="0" err="1"/>
              <a:t>SASPy</a:t>
            </a:r>
            <a:endParaRPr lang="en-US" dirty="0"/>
          </a:p>
          <a:p>
            <a:r>
              <a:rPr lang="en-US" dirty="0"/>
              <a:t>Allows submitting code with a single Python method call (after connection is established)</a:t>
            </a:r>
          </a:p>
          <a:p>
            <a:r>
              <a:rPr lang="en-US" dirty="0"/>
              <a:t>Contains many comments that will improve the ability of Agentic AI to utilize the class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87D42-9A0F-57D1-4818-D244136A55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SASPy</a:t>
            </a:r>
            <a:r>
              <a:rPr lang="en-US" dirty="0"/>
              <a:t> Connection Wrapper</a:t>
            </a:r>
          </a:p>
        </p:txBody>
      </p:sp>
      <p:pic>
        <p:nvPicPr>
          <p:cNvPr id="5" name="Picture 2" descr="QR Code Image">
            <a:extLst>
              <a:ext uri="{FF2B5EF4-FFF2-40B4-BE49-F238E27FC236}">
                <a16:creationId xmlns:a16="http://schemas.microsoft.com/office/drawing/2014/main" id="{9B787EA3-DDBF-866B-AD45-69F8EEBD0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3" y="2187682"/>
            <a:ext cx="5374912" cy="537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57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CB9E-E64A-5773-66FD-6265F555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connect_saspy.py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66E1A-3CE2-D477-9F5B-993B1DDE82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wrapper that makes it work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5F4975-90E9-64E0-7EE5-A9EB17579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Methods:</a:t>
            </a:r>
          </a:p>
          <a:p>
            <a:r>
              <a:rPr lang="en-US" dirty="0"/>
              <a:t>_</a:t>
            </a:r>
            <a:r>
              <a:rPr lang="en-US" dirty="0" err="1"/>
              <a:t>start_connection</a:t>
            </a:r>
            <a:r>
              <a:rPr lang="en-US" dirty="0"/>
              <a:t>(): internal method to initiate the </a:t>
            </a:r>
            <a:r>
              <a:rPr lang="en-US" dirty="0" err="1"/>
              <a:t>SASPy</a:t>
            </a:r>
            <a:r>
              <a:rPr lang="en-US" dirty="0"/>
              <a:t> connection</a:t>
            </a:r>
          </a:p>
          <a:p>
            <a:r>
              <a:rPr lang="en-US" dirty="0"/>
              <a:t>_</a:t>
            </a:r>
            <a:r>
              <a:rPr lang="en-US" dirty="0" err="1"/>
              <a:t>test_connection</a:t>
            </a:r>
            <a:r>
              <a:rPr lang="en-US" dirty="0"/>
              <a:t>(): internal method to validate the </a:t>
            </a:r>
            <a:r>
              <a:rPr lang="en-US" dirty="0" err="1"/>
              <a:t>SASPy</a:t>
            </a:r>
            <a:r>
              <a:rPr lang="en-US" dirty="0"/>
              <a:t> connection</a:t>
            </a:r>
          </a:p>
          <a:p>
            <a:r>
              <a:rPr lang="en-US" dirty="0"/>
              <a:t>submit(code): Submits SAS code (as text) to </a:t>
            </a:r>
            <a:r>
              <a:rPr lang="en-US" dirty="0" err="1"/>
              <a:t>SASPy</a:t>
            </a:r>
            <a:r>
              <a:rPr lang="en-US" dirty="0"/>
              <a:t>.  Starts a connection if none exists.</a:t>
            </a:r>
          </a:p>
          <a:p>
            <a:r>
              <a:rPr lang="en-US" dirty="0" err="1"/>
              <a:t>close_connection</a:t>
            </a:r>
            <a:r>
              <a:rPr lang="en-US" dirty="0"/>
              <a:t>(): Closes the </a:t>
            </a:r>
            <a:r>
              <a:rPr lang="en-US" dirty="0" err="1"/>
              <a:t>SASPy</a:t>
            </a:r>
            <a:r>
              <a:rPr lang="en-US" dirty="0"/>
              <a:t> connection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Automatically initiates a connection to </a:t>
            </a:r>
            <a:r>
              <a:rPr lang="en-US" dirty="0" err="1"/>
              <a:t>SASPy</a:t>
            </a:r>
            <a:r>
              <a:rPr lang="en-US" dirty="0"/>
              <a:t> – no action needed by the AI!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34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CF0A2-6695-5C70-F99C-3754F496B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SASPy</a:t>
            </a:r>
            <a:r>
              <a:rPr lang="en-US" dirty="0"/>
              <a:t>/</a:t>
            </a:r>
            <a:r>
              <a:rPr lang="en-US" dirty="0" err="1"/>
              <a:t>connect_saspy</a:t>
            </a:r>
            <a:r>
              <a:rPr lang="en-US" dirty="0"/>
              <a:t>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28DD1-40E4-9E84-A1A5-C9E2AD788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an SSH Key or </a:t>
            </a:r>
            <a:r>
              <a:rPr lang="en-US" dirty="0" err="1"/>
              <a:t>Authinfo</a:t>
            </a:r>
            <a:r>
              <a:rPr lang="en-US" dirty="0"/>
              <a:t> file so the connection is automatic with no user intervention needed</a:t>
            </a:r>
          </a:p>
          <a:p>
            <a:r>
              <a:rPr lang="en-US" dirty="0"/>
              <a:t>Keep the connect_saspy.py and example_usage.py in the folder you are working with, or in a related folder in the context window</a:t>
            </a:r>
          </a:p>
          <a:p>
            <a:r>
              <a:rPr lang="en-US" dirty="0"/>
              <a:t>Make sure </a:t>
            </a:r>
            <a:r>
              <a:rPr lang="en-US" dirty="0" err="1"/>
              <a:t>saspy</a:t>
            </a:r>
            <a:r>
              <a:rPr lang="en-US" dirty="0"/>
              <a:t> is in your requirements.txt file</a:t>
            </a:r>
          </a:p>
          <a:p>
            <a:r>
              <a:rPr lang="en-US" dirty="0"/>
              <a:t>Test using </a:t>
            </a:r>
            <a:r>
              <a:rPr lang="en-US" dirty="0" err="1"/>
              <a:t>connect_saspy</a:t>
            </a:r>
            <a:r>
              <a:rPr lang="en-US" dirty="0"/>
              <a:t> yourself before using it with the AI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A7FA4-81DF-6240-2511-B5969B0D1E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9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E3FB-DA17-8E2C-657B-D919CE33D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1927C4-142E-85B4-A408-6D0904E7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Code!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6C93D-ED52-B8FF-8F14-9FF05D4A5F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Live demos with AI never go wrong… </a:t>
            </a:r>
          </a:p>
          <a:p>
            <a:r>
              <a:rPr lang="en-US" dirty="0"/>
              <a:t>so we will use a recording instead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0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01D71A-88C2-53EE-24BD-F3EC276D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Prompt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6D13F36-4F31-4B54-8F32-33BBD57BF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00300"/>
            <a:ext cx="15773400" cy="68659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Please use the file sas_prompt.txt in the currently open folder as instructions, before doing anything else from this request.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 use the folder ~\SASInnovate for interfacing with the SAS server in this project.  Use the currently open folder for the </a:t>
            </a:r>
            <a:r>
              <a:rPr lang="en-US" dirty="0" err="1"/>
              <a:t>Jupyter</a:t>
            </a:r>
            <a:r>
              <a:rPr lang="en-US" dirty="0"/>
              <a:t> Notebook.  Add the newly created folder to the current VS Code workspace as an additional folder.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 run an analysis on the SASHELP.BASEBALL dataset.  The object of this analysis is to show which players had the best batting statistics.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report should be written to Microsoft Excel (.xlsx) format.  Use professional styling to improve the look and feel of this report so that I can present it to the CEO of my company.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 run this and validate that it produces valid output.</a:t>
            </a:r>
          </a:p>
        </p:txBody>
      </p:sp>
    </p:spTree>
    <p:extLst>
      <p:ext uri="{BB962C8B-B14F-4D97-AF65-F5344CB8AC3E}">
        <p14:creationId xmlns:p14="http://schemas.microsoft.com/office/powerpoint/2010/main" val="303674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FDCAF9-FF09-7462-55E6-D72DB9105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B1EBF-F009-1E16-0BBA-7C13CF71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Youtube</a:t>
            </a:r>
            <a:r>
              <a:rPr lang="en-US" dirty="0"/>
              <a:t> link goes here</a:t>
            </a:r>
          </a:p>
        </p:txBody>
      </p:sp>
    </p:spTree>
    <p:extLst>
      <p:ext uri="{BB962C8B-B14F-4D97-AF65-F5344CB8AC3E}">
        <p14:creationId xmlns:p14="http://schemas.microsoft.com/office/powerpoint/2010/main" val="346840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7A7DE-218B-AFFD-EFD3-18B90A0C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88A4F2-D91C-220C-8EDF-26DF9D4ED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 Tips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E3F5F-4D15-B9F5-54B8-53BD56C494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Programming the (AI) Programmer…</a:t>
            </a:r>
          </a:p>
        </p:txBody>
      </p:sp>
    </p:spTree>
    <p:extLst>
      <p:ext uri="{BB962C8B-B14F-4D97-AF65-F5344CB8AC3E}">
        <p14:creationId xmlns:p14="http://schemas.microsoft.com/office/powerpoint/2010/main" val="270486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50D56-63DB-818D-73B9-ECB8E713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EF62-060A-8020-1CF5-8D9EB7009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D1451-7735-0095-AD5E-65956F6E39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13E62-A4D8-0371-729A-882FC98FB8CD}"/>
              </a:ext>
            </a:extLst>
          </p:cNvPr>
          <p:cNvSpPr/>
          <p:nvPr/>
        </p:nvSpPr>
        <p:spPr>
          <a:xfrm>
            <a:off x="12267114" y="5528173"/>
            <a:ext cx="3693408" cy="26629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1" b="1" i="0" u="none" strike="noStrike" kern="1200" cap="none" spc="0" normalizeH="0" baseline="0" noProof="0" dirty="0">
                <a:ln>
                  <a:noFill/>
                </a:ln>
                <a:solidFill>
                  <a:srgbClr val="032954"/>
                </a:solidFill>
                <a:effectLst/>
                <a:uLnTx/>
                <a:uFillTx/>
                <a:latin typeface="Anova Bold"/>
                <a:ea typeface="+mn-ea"/>
                <a:cs typeface="+mn-cs"/>
              </a:rPr>
              <a:t>Prompt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User-specified prompt that specifically asks </a:t>
            </a:r>
            <a:r>
              <a:rPr lang="en-US" sz="2801" dirty="0">
                <a:solidFill>
                  <a:srgbClr val="000000"/>
                </a:solidFill>
                <a:latin typeface="Anova Light"/>
              </a:rPr>
              <a:t>the Agentic AI to do what is needed for this project.</a:t>
            </a:r>
            <a:endParaRPr kumimoji="0" lang="en-US" sz="280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nova Ligh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32C55A-915B-48AD-E897-EFF4271937C5}"/>
              </a:ext>
            </a:extLst>
          </p:cNvPr>
          <p:cNvSpPr/>
          <p:nvPr/>
        </p:nvSpPr>
        <p:spPr>
          <a:xfrm>
            <a:off x="7297296" y="5528173"/>
            <a:ext cx="3693408" cy="305087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1" b="1" i="0" u="none" strike="noStrike" kern="1200" cap="none" spc="0" normalizeH="0" baseline="0" noProof="0" dirty="0">
                <a:ln>
                  <a:noFill/>
                </a:ln>
                <a:solidFill>
                  <a:srgbClr val="032954"/>
                </a:solidFill>
                <a:effectLst/>
                <a:uLnTx/>
                <a:uFillTx/>
                <a:latin typeface="Anova Bold"/>
                <a:ea typeface="+mn-ea"/>
                <a:cs typeface="+mn-cs"/>
              </a:rPr>
              <a:t>Pre-Prompt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A </a:t>
            </a:r>
            <a:r>
              <a:rPr kumimoji="0" lang="en-US" sz="2801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promp</a:t>
            </a:r>
            <a:r>
              <a:rPr lang="en-US" sz="2801" dirty="0">
                <a:solidFill>
                  <a:srgbClr val="000000"/>
                </a:solidFill>
                <a:latin typeface="Anova Light"/>
              </a:rPr>
              <a:t>t with basic information that guides the Agentic AI towards better results, that is useful for many projects.</a:t>
            </a:r>
            <a:endParaRPr kumimoji="0" lang="en-US" sz="280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nova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214EF2-443E-5EBF-D8C0-3C6EDDAF50A2}"/>
              </a:ext>
            </a:extLst>
          </p:cNvPr>
          <p:cNvSpPr/>
          <p:nvPr/>
        </p:nvSpPr>
        <p:spPr>
          <a:xfrm>
            <a:off x="2327478" y="5528173"/>
            <a:ext cx="3693408" cy="18870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001" b="1" dirty="0">
                <a:solidFill>
                  <a:srgbClr val="032954"/>
                </a:solidFill>
                <a:latin typeface="Anova Bold"/>
              </a:rPr>
              <a:t>Settings</a:t>
            </a:r>
            <a:endParaRPr kumimoji="0" lang="en-US" sz="4001" b="1" i="0" u="none" strike="noStrike" kern="1200" cap="none" spc="0" normalizeH="0" baseline="0" noProof="0" dirty="0">
              <a:ln>
                <a:noFill/>
              </a:ln>
              <a:solidFill>
                <a:srgbClr val="032954"/>
              </a:solidFill>
              <a:effectLst/>
              <a:uLnTx/>
              <a:uFillTx/>
              <a:latin typeface="Anova Bold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These affect what </a:t>
            </a:r>
            <a:br>
              <a:rPr kumimoji="0" lang="en-US" sz="280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</a:br>
            <a:r>
              <a:rPr kumimoji="0" lang="en-US" sz="280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the Agentic AI </a:t>
            </a:r>
            <a:br>
              <a:rPr kumimoji="0" lang="en-US" sz="280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</a:br>
            <a:r>
              <a:rPr kumimoji="0" lang="en-US" sz="280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is able to do.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88607B-24A0-2F34-D574-368DDDA6774B}"/>
              </a:ext>
            </a:extLst>
          </p:cNvPr>
          <p:cNvSpPr/>
          <p:nvPr/>
        </p:nvSpPr>
        <p:spPr>
          <a:xfrm>
            <a:off x="8428877" y="3614143"/>
            <a:ext cx="1430249" cy="143024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62B60A-BB7B-5C34-9C69-F2D01BF45652}"/>
              </a:ext>
            </a:extLst>
          </p:cNvPr>
          <p:cNvSpPr/>
          <p:nvPr/>
        </p:nvSpPr>
        <p:spPr>
          <a:xfrm>
            <a:off x="3459059" y="3612106"/>
            <a:ext cx="1430249" cy="143024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3DC33E9-6DCD-729D-197B-017A706FE13B}"/>
              </a:ext>
            </a:extLst>
          </p:cNvPr>
          <p:cNvSpPr/>
          <p:nvPr/>
        </p:nvSpPr>
        <p:spPr>
          <a:xfrm>
            <a:off x="13398695" y="3612106"/>
            <a:ext cx="1430249" cy="143024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+mn-ea"/>
                <a:cs typeface="+mn-cs"/>
              </a:rPr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0F65C4-7406-E9EF-DC62-15AFFD8926D0}"/>
              </a:ext>
            </a:extLst>
          </p:cNvPr>
          <p:cNvCxnSpPr>
            <a:cxnSpLocks/>
          </p:cNvCxnSpPr>
          <p:nvPr/>
        </p:nvCxnSpPr>
        <p:spPr>
          <a:xfrm>
            <a:off x="4990453" y="4327231"/>
            <a:ext cx="3337280" cy="0"/>
          </a:xfrm>
          <a:prstGeom prst="line">
            <a:avLst/>
          </a:prstGeom>
          <a:ln w="9525">
            <a:solidFill>
              <a:schemeClr val="accent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BA1BA3-51DB-8931-0B68-B0289A7F4836}"/>
              </a:ext>
            </a:extLst>
          </p:cNvPr>
          <p:cNvCxnSpPr>
            <a:cxnSpLocks/>
          </p:cNvCxnSpPr>
          <p:nvPr/>
        </p:nvCxnSpPr>
        <p:spPr>
          <a:xfrm>
            <a:off x="9954247" y="4327231"/>
            <a:ext cx="3343304" cy="0"/>
          </a:xfrm>
          <a:prstGeom prst="line">
            <a:avLst/>
          </a:prstGeom>
          <a:ln w="9525"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10711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AA4CB-8898-25D0-B957-C0781D20A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00687E-E6DE-CC28-9C61-C153406A6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602375-672D-3E03-89EB-1DB8FF000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Tell the Agent where to find key programs or spaces</a:t>
            </a:r>
          </a:p>
          <a:p>
            <a:pPr lvl="1"/>
            <a:r>
              <a:rPr lang="en-US" sz="3200" dirty="0"/>
              <a:t>Example programs often improve results</a:t>
            </a:r>
          </a:p>
          <a:p>
            <a:r>
              <a:rPr lang="en-US" sz="4000" dirty="0"/>
              <a:t>Give it any environment details that are necessary for your space</a:t>
            </a:r>
          </a:p>
          <a:p>
            <a:pPr lvl="1"/>
            <a:r>
              <a:rPr lang="en-US" sz="3200" dirty="0"/>
              <a:t>Server-based SAS: can SAS read the current folder?</a:t>
            </a:r>
          </a:p>
          <a:p>
            <a:r>
              <a:rPr lang="en-US" sz="4000" dirty="0"/>
              <a:t>Tell it how to write the Python program that runs your SAS code</a:t>
            </a:r>
          </a:p>
          <a:p>
            <a:r>
              <a:rPr lang="en-US" dirty="0"/>
              <a:t>Direct what kind of code you want to see (Macros, SQL, etc.) </a:t>
            </a:r>
          </a:p>
          <a:p>
            <a:pPr lvl="1"/>
            <a:r>
              <a:rPr lang="en-US" sz="3200" dirty="0"/>
              <a:t>You will get a lot of SQL if you don’t ask it not to!</a:t>
            </a:r>
          </a:p>
          <a:p>
            <a:r>
              <a:rPr lang="en-US" sz="4000" dirty="0"/>
              <a:t>Learn over time how to improve this – any time something goes wrong, add something to this to improve it</a:t>
            </a:r>
          </a:p>
          <a:p>
            <a:r>
              <a:rPr lang="en-US" sz="4000" dirty="0"/>
              <a:t>After completing a session, consider asking for improvements to the prompt!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FC213D-CBD4-70B5-1CB1-CE8E6B4AF1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 SAS </a:t>
            </a:r>
            <a:r>
              <a:rPr lang="en-US" dirty="0" err="1"/>
              <a:t>Preprompt</a:t>
            </a:r>
            <a:r>
              <a:rPr lang="en-US" dirty="0"/>
              <a:t>: Key Elements</a:t>
            </a:r>
          </a:p>
        </p:txBody>
      </p:sp>
    </p:spTree>
    <p:extLst>
      <p:ext uri="{BB962C8B-B14F-4D97-AF65-F5344CB8AC3E}">
        <p14:creationId xmlns:p14="http://schemas.microsoft.com/office/powerpoint/2010/main" val="137391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94CA3-740F-EAFE-E1D8-F9B47010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431E5-1485-D8FD-F878-7AC6C5F7B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Please use the file sas_prompt.txt in the currently open folder as instructions, before doing anything else from this request.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 use the folder ~\SASInnovate for interfacing with the SAS server in this project.  Use the currently open folder for the </a:t>
            </a:r>
            <a:r>
              <a:rPr lang="en-US" dirty="0" err="1"/>
              <a:t>Jupyter</a:t>
            </a:r>
            <a:r>
              <a:rPr lang="en-US" dirty="0"/>
              <a:t> Notebook.  Add the newly created folder to the current VS Code workspace as an additional folder.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 run an analysis on the SASHELP.BASEBALL dataset.  The object of this analysis is to show which players had the best batting statistics.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report should be written to Microsoft Excel (.xlsx) format.  Use professional styling to improve the look and feel of this report so that I can present it to the CEO of my company.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 run this and validate that it produces valid output.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F2F14-8D33-3748-5404-1F5C284CAE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prompt from the example</a:t>
            </a:r>
          </a:p>
        </p:txBody>
      </p:sp>
    </p:spTree>
    <p:extLst>
      <p:ext uri="{BB962C8B-B14F-4D97-AF65-F5344CB8AC3E}">
        <p14:creationId xmlns:p14="http://schemas.microsoft.com/office/powerpoint/2010/main" val="246200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EE54-0067-FCAD-F9E4-C4C46E58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8EC7E-BC16-6585-BD14-4FAF04980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 your prompt </a:t>
            </a:r>
          </a:p>
          <a:p>
            <a:pPr lvl="1"/>
            <a:r>
              <a:rPr lang="en-US" dirty="0"/>
              <a:t>If you are building a report, start by talking about the data source, then modifications, then move on to the report specifications.</a:t>
            </a:r>
          </a:p>
          <a:p>
            <a:r>
              <a:rPr lang="en-US" dirty="0"/>
              <a:t>Be specific!  </a:t>
            </a:r>
          </a:p>
          <a:p>
            <a:pPr lvl="1"/>
            <a:r>
              <a:rPr lang="en-US" dirty="0"/>
              <a:t>Tell the agent where to write files</a:t>
            </a:r>
          </a:p>
          <a:p>
            <a:pPr lvl="1"/>
            <a:r>
              <a:rPr lang="en-US" dirty="0"/>
              <a:t>Give it clear instructions for formatting/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If possible, point the agent to a properly formatted document</a:t>
            </a:r>
          </a:p>
          <a:p>
            <a:r>
              <a:rPr lang="en-US" dirty="0"/>
              <a:t>Save your prompt outside of the Agentic environment!</a:t>
            </a:r>
          </a:p>
          <a:p>
            <a:pPr lvl="1"/>
            <a:r>
              <a:rPr lang="en-US" dirty="0"/>
              <a:t>Easier to recover if something crashes</a:t>
            </a:r>
          </a:p>
          <a:p>
            <a:pPr lvl="1"/>
            <a:r>
              <a:rPr lang="en-US" dirty="0"/>
              <a:t>Learn over time from saved copies!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E4109-D6A8-D1E0-D2CF-FCAF4853E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Key considerations for your prompt</a:t>
            </a:r>
          </a:p>
        </p:txBody>
      </p:sp>
    </p:spTree>
    <p:extLst>
      <p:ext uri="{BB962C8B-B14F-4D97-AF65-F5344CB8AC3E}">
        <p14:creationId xmlns:p14="http://schemas.microsoft.com/office/powerpoint/2010/main" val="260440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3024E-130A-A631-08DA-3A2A6765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C4CC4D-8A7A-4C92-B5A0-FFE311B0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C4B07-0A61-E978-E5F8-45BD8351AA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6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B4208-0C64-5A1E-6411-43FD1AFE4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81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1_NDA" val="5KPCLKMf"/>
  <p:tag name="ARTICULATE_DESIGN_ID_1_SAS-EXTERNAL-16X9-2023" val="OvZPFYIY"/>
  <p:tag name="ARTICULATE_DESIGN_ID_CUSTOM DESIGN" val="WASRYxhz"/>
  <p:tag name="ARTICULATE_DESIGN_ID_SAS - EXTERNAL" val="IZ9bNYet"/>
  <p:tag name="ARTICULATE_DESIGN_ID_SAS - EXTERNAL - 16X9 - 2023" val="iju6vBOG"/>
  <p:tag name="ARTICULATE_DESIGN_ID_SAS - EXTERNAL - NDA" val="RR4fBfJW"/>
  <p:tag name="ARTICULATE_DESIGN_ID_SAS-EXTERNAL-16X9-2023" val="CJxW6PTk"/>
  <p:tag name="ARTICULATE_PROJECT_OPEN" val="0"/>
  <p:tag name="ARTICULATE_SLIDE_COUNT" val="11"/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Innovate 2026 - Breakouts, Booths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39A37766-FFC9-4FE2-8548-225942BE952F}" vid="{4EDE4666-7568-4C7C-80D2-E90955051042}"/>
    </a:ext>
  </a:extLst>
</a:theme>
</file>

<file path=ppt/theme/theme2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C3CF817976B44ABBB668BDB7332E82" ma:contentTypeVersion="8" ma:contentTypeDescription="Create a new document." ma:contentTypeScope="" ma:versionID="633e37800392335902d6b28156220f2c">
  <xsd:schema xmlns:xsd="http://www.w3.org/2001/XMLSchema" xmlns:xs="http://www.w3.org/2001/XMLSchema" xmlns:p="http://schemas.microsoft.com/office/2006/metadata/properties" xmlns:ns2="b9f9006a-0ff1-4513-97ea-302cbfa343c6" targetNamespace="http://schemas.microsoft.com/office/2006/metadata/properties" ma:root="true" ma:fieldsID="4d2c45f457e2d1af2d7af2f857c880bb" ns2:_="">
    <xsd:import namespace="b9f9006a-0ff1-4513-97ea-302cbfa343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f9006a-0ff1-4513-97ea-302cbfa343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E925E4-5239-4639-A029-07B3CFD6A3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663518-7548-4643-8219-608BFF0DFA0C}">
  <ds:schemaRefs>
    <ds:schemaRef ds:uri="b9f9006a-0ff1-4513-97ea-302cbfa343c6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B9B213C-F564-4F7E-835B-8B2F527CB87A}">
  <ds:schemaRefs>
    <ds:schemaRef ds:uri="b9f9006a-0ff1-4513-97ea-302cbfa343c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3079</TotalTime>
  <Words>1542</Words>
  <Application>Microsoft Office PowerPoint</Application>
  <PresentationFormat>Custom</PresentationFormat>
  <Paragraphs>168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Wingdings</vt:lpstr>
      <vt:lpstr>Anova Bold</vt:lpstr>
      <vt:lpstr>Anova Light</vt:lpstr>
      <vt:lpstr>SAS Innovate 2026 - Breakouts, Booths</vt:lpstr>
      <vt:lpstr>Claude the SAS Programmer</vt:lpstr>
      <vt:lpstr>Github Link for Powerpoint + Code</vt:lpstr>
      <vt:lpstr>Agenda</vt:lpstr>
      <vt:lpstr>About this presentation</vt:lpstr>
      <vt:lpstr>What is Agentic AI?</vt:lpstr>
      <vt:lpstr>What is Agentic AI?</vt:lpstr>
      <vt:lpstr>Examples of Agentic AI</vt:lpstr>
      <vt:lpstr>Why use Agentic AI?</vt:lpstr>
      <vt:lpstr>Tools for using SAS with Agentic AI </vt:lpstr>
      <vt:lpstr>Tools for using Agentic AI</vt:lpstr>
      <vt:lpstr>Tools for using Agentic AI</vt:lpstr>
      <vt:lpstr>Tools for using Agentic AI</vt:lpstr>
      <vt:lpstr>Tools for using Agentic AI</vt:lpstr>
      <vt:lpstr>Tools for using Agentic AI</vt:lpstr>
      <vt:lpstr>Tools for using Agentic AI </vt:lpstr>
      <vt:lpstr>connect_saspy.py</vt:lpstr>
      <vt:lpstr>SASPy/connect_saspy Best Practices</vt:lpstr>
      <vt:lpstr>Let’s Code!</vt:lpstr>
      <vt:lpstr>The Prompt </vt:lpstr>
      <vt:lpstr>PowerPoint Presentation</vt:lpstr>
      <vt:lpstr>Prompt Engineering Tips</vt:lpstr>
      <vt:lpstr>Prompt Engineering</vt:lpstr>
      <vt:lpstr>Prompt Engineering</vt:lpstr>
      <vt:lpstr>Prompt Engineering</vt:lpstr>
      <vt:lpstr>Prompt Engineering</vt:lpstr>
      <vt:lpstr>Questions?</vt:lpstr>
      <vt:lpstr>Thank you!</vt:lpstr>
    </vt:vector>
  </TitlesOfParts>
  <Company>NORC at the University of Chicago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Matise</dc:creator>
  <cp:lastModifiedBy>Joe Matise</cp:lastModifiedBy>
  <cp:revision>7</cp:revision>
  <dcterms:created xsi:type="dcterms:W3CDTF">2026-04-07T16:49:38Z</dcterms:created>
  <dcterms:modified xsi:type="dcterms:W3CDTF">2026-04-28T22:23:26Z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0x01010032C3CF817976B44ABBB668BDB7332E82</vt:lpwstr>
  </property>
</Properties>
</file>