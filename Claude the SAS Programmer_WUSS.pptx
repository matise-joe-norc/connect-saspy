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2" r:id="rId4"/>
  </p:sldMasterIdLst>
  <p:notesMasterIdLst>
    <p:notesMasterId r:id="rId36"/>
  </p:notesMasterIdLst>
  <p:handoutMasterIdLst>
    <p:handoutMasterId r:id="rId37"/>
  </p:handoutMasterIdLst>
  <p:sldIdLst>
    <p:sldId id="2147477452" r:id="rId5"/>
    <p:sldId id="2147479715" r:id="rId6"/>
    <p:sldId id="256" r:id="rId7"/>
    <p:sldId id="275" r:id="rId8"/>
    <p:sldId id="2147483647" r:id="rId9"/>
    <p:sldId id="2147477445" r:id="rId10"/>
    <p:sldId id="261" r:id="rId11"/>
    <p:sldId id="262" r:id="rId12"/>
    <p:sldId id="257" r:id="rId13"/>
    <p:sldId id="264" r:id="rId14"/>
    <p:sldId id="263" r:id="rId15"/>
    <p:sldId id="258" r:id="rId16"/>
    <p:sldId id="267" r:id="rId17"/>
    <p:sldId id="282" r:id="rId18"/>
    <p:sldId id="278" r:id="rId19"/>
    <p:sldId id="265" r:id="rId20"/>
    <p:sldId id="266" r:id="rId21"/>
    <p:sldId id="268" r:id="rId22"/>
    <p:sldId id="271" r:id="rId23"/>
    <p:sldId id="269" r:id="rId24"/>
    <p:sldId id="272" r:id="rId25"/>
    <p:sldId id="273" r:id="rId26"/>
    <p:sldId id="277" r:id="rId27"/>
    <p:sldId id="259" r:id="rId28"/>
    <p:sldId id="270" r:id="rId29"/>
    <p:sldId id="274" r:id="rId30"/>
    <p:sldId id="276" r:id="rId31"/>
    <p:sldId id="279" r:id="rId32"/>
    <p:sldId id="280" r:id="rId33"/>
    <p:sldId id="260" r:id="rId34"/>
    <p:sldId id="2147479714" r:id="rId35"/>
  </p:sldIdLst>
  <p:sldSz cx="18288000" cy="10287000"/>
  <p:notesSz cx="6858000" cy="9144000"/>
  <p:embeddedFontLst>
    <p:embeddedFont>
      <p:font typeface="Anova Bold" panose="020B0604020202020204" charset="0"/>
      <p:bold r:id="rId38"/>
      <p:italic r:id="rId39"/>
      <p:boldItalic r:id="rId40"/>
    </p:embeddedFont>
    <p:embeddedFont>
      <p:font typeface="Anova Light" panose="020B0604020202020204" charset="0"/>
      <p:regular r:id="rId41"/>
      <p:italic r:id="rId42"/>
    </p:embeddedFont>
  </p:embeddedFontLst>
  <p:custDataLst>
    <p:tags r:id="rId43"/>
  </p:custDataLst>
  <p:defaultTextStyle>
    <a:defPPr>
      <a:defRPr lang="en-US"/>
    </a:defPPr>
    <a:lvl1pPr marL="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9144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B708D14-BD54-920F-18BB-8395E60AE589}" name="Alice McClure" initials="AM" userId="S::alice.mcclure@sas.com::6210c489-566a-4639-8da1-84bcfd842f43" providerId="AD"/>
  <p188:author id="{6DFEA739-C4EE-3CDE-94E6-A95954A908DE}" name="Tine Haaber" initials="TH" userId="S::Tine.Haaber@SAS.COM::b28dffea-6139-4081-9090-e82e8f84374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>
      <p:cViewPr varScale="1">
        <p:scale>
          <a:sx n="40" d="100"/>
          <a:sy n="40" d="100"/>
        </p:scale>
        <p:origin x="4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2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5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gs" Target="tags/tag1.xml"/><Relationship Id="rId48" Type="http://schemas.microsoft.com/office/2018/10/relationships/authors" Target="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1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551C0D-F432-4702-9F4F-CFEC90F9D39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448EBA-B30F-4ADE-A385-70346BF4AAC9}">
      <dgm:prSet phldrT="[Text]" phldr="0"/>
      <dgm:spPr/>
      <dgm:t>
        <a:bodyPr/>
        <a:lstStyle/>
        <a:p>
          <a:r>
            <a:rPr lang="en-US" dirty="0"/>
            <a:t>MCP</a:t>
          </a:r>
        </a:p>
      </dgm:t>
    </dgm:pt>
    <dgm:pt modelId="{40FC1B25-8A78-4E50-BAA3-E4EB91AEC98E}" type="parTrans" cxnId="{8F20914A-D2BD-4CDD-97C7-3AB60CA77B27}">
      <dgm:prSet/>
      <dgm:spPr/>
      <dgm:t>
        <a:bodyPr/>
        <a:lstStyle/>
        <a:p>
          <a:endParaRPr lang="en-US"/>
        </a:p>
      </dgm:t>
    </dgm:pt>
    <dgm:pt modelId="{DE72D2A4-F1A6-42D5-AC12-89A848B80D5D}" type="sibTrans" cxnId="{8F20914A-D2BD-4CDD-97C7-3AB60CA77B27}">
      <dgm:prSet/>
      <dgm:spPr/>
      <dgm:t>
        <a:bodyPr/>
        <a:lstStyle/>
        <a:p>
          <a:endParaRPr lang="en-US"/>
        </a:p>
      </dgm:t>
    </dgm:pt>
    <dgm:pt modelId="{DE1C067B-C2DC-41B6-9312-F2DE544B8091}">
      <dgm:prSet phldrT="[Text]" phldr="0"/>
      <dgm:spPr/>
      <dgm:t>
        <a:bodyPr/>
        <a:lstStyle/>
        <a:p>
          <a:r>
            <a:rPr lang="en-US" dirty="0"/>
            <a:t>System-wide</a:t>
          </a:r>
        </a:p>
      </dgm:t>
    </dgm:pt>
    <dgm:pt modelId="{28A95508-EBC1-49DB-A650-A74A87C51BEE}" type="parTrans" cxnId="{59DBA059-8014-4C63-89B6-D3688151D8F4}">
      <dgm:prSet/>
      <dgm:spPr/>
      <dgm:t>
        <a:bodyPr/>
        <a:lstStyle/>
        <a:p>
          <a:endParaRPr lang="en-US"/>
        </a:p>
      </dgm:t>
    </dgm:pt>
    <dgm:pt modelId="{5DF65954-22EA-491C-8A33-F41C54978B57}" type="sibTrans" cxnId="{59DBA059-8014-4C63-89B6-D3688151D8F4}">
      <dgm:prSet/>
      <dgm:spPr/>
      <dgm:t>
        <a:bodyPr/>
        <a:lstStyle/>
        <a:p>
          <a:endParaRPr lang="en-US"/>
        </a:p>
      </dgm:t>
    </dgm:pt>
    <dgm:pt modelId="{B9F1E57C-6D76-40CB-95D9-32BA7BC3E37B}">
      <dgm:prSet phldrT="[Text]" phldr="0"/>
      <dgm:spPr/>
      <dgm:t>
        <a:bodyPr/>
        <a:lstStyle/>
        <a:p>
          <a:r>
            <a:rPr lang="en-US" dirty="0"/>
            <a:t>Automatically used; does not modify prompt</a:t>
          </a:r>
        </a:p>
      </dgm:t>
    </dgm:pt>
    <dgm:pt modelId="{A93D9EEE-5E35-422B-9688-AE04902AED82}" type="parTrans" cxnId="{C5BCFCB6-AA49-4743-AC17-390629EF72D2}">
      <dgm:prSet/>
      <dgm:spPr/>
      <dgm:t>
        <a:bodyPr/>
        <a:lstStyle/>
        <a:p>
          <a:endParaRPr lang="en-US"/>
        </a:p>
      </dgm:t>
    </dgm:pt>
    <dgm:pt modelId="{9F462848-8AEE-4B6F-9765-5858CDD5C00B}" type="sibTrans" cxnId="{C5BCFCB6-AA49-4743-AC17-390629EF72D2}">
      <dgm:prSet/>
      <dgm:spPr/>
      <dgm:t>
        <a:bodyPr/>
        <a:lstStyle/>
        <a:p>
          <a:endParaRPr lang="en-US"/>
        </a:p>
      </dgm:t>
    </dgm:pt>
    <dgm:pt modelId="{9A505C4B-29F5-4387-9073-2929D8954E3E}">
      <dgm:prSet phldrT="[Text]" phldr="0"/>
      <dgm:spPr/>
      <dgm:t>
        <a:bodyPr/>
        <a:lstStyle/>
        <a:p>
          <a:r>
            <a:rPr lang="en-US" dirty="0"/>
            <a:t>Skill</a:t>
          </a:r>
        </a:p>
      </dgm:t>
    </dgm:pt>
    <dgm:pt modelId="{8F7C072F-A2F2-4D11-A8F0-A01C4A918016}" type="parTrans" cxnId="{ABAF1692-B729-4620-8F3A-8FEEF6E6865E}">
      <dgm:prSet/>
      <dgm:spPr/>
      <dgm:t>
        <a:bodyPr/>
        <a:lstStyle/>
        <a:p>
          <a:endParaRPr lang="en-US"/>
        </a:p>
      </dgm:t>
    </dgm:pt>
    <dgm:pt modelId="{CAD7DD31-07DD-4CD8-95A5-4A3C90C0101E}" type="sibTrans" cxnId="{ABAF1692-B729-4620-8F3A-8FEEF6E6865E}">
      <dgm:prSet/>
      <dgm:spPr/>
      <dgm:t>
        <a:bodyPr/>
        <a:lstStyle/>
        <a:p>
          <a:endParaRPr lang="en-US"/>
        </a:p>
      </dgm:t>
    </dgm:pt>
    <dgm:pt modelId="{FD33AF22-6C18-42D4-96CE-989F3901FDF1}">
      <dgm:prSet phldrT="[Text]" phldr="0"/>
      <dgm:spPr/>
      <dgm:t>
        <a:bodyPr/>
        <a:lstStyle/>
        <a:p>
          <a:r>
            <a:rPr lang="en-US" dirty="0"/>
            <a:t>System-wide</a:t>
          </a:r>
        </a:p>
      </dgm:t>
    </dgm:pt>
    <dgm:pt modelId="{C6857A3C-4D8A-41AD-85CF-4D4CD305F9F8}" type="parTrans" cxnId="{2F5B3866-FE52-41D2-8525-A2FCA083A6E7}">
      <dgm:prSet/>
      <dgm:spPr/>
      <dgm:t>
        <a:bodyPr/>
        <a:lstStyle/>
        <a:p>
          <a:endParaRPr lang="en-US"/>
        </a:p>
      </dgm:t>
    </dgm:pt>
    <dgm:pt modelId="{92E0763B-3BBB-47BE-922A-4A3E0E1CCB1D}" type="sibTrans" cxnId="{2F5B3866-FE52-41D2-8525-A2FCA083A6E7}">
      <dgm:prSet/>
      <dgm:spPr/>
      <dgm:t>
        <a:bodyPr/>
        <a:lstStyle/>
        <a:p>
          <a:endParaRPr lang="en-US"/>
        </a:p>
      </dgm:t>
    </dgm:pt>
    <dgm:pt modelId="{960A8D47-9FC9-433E-81CD-414967ED0BDF}">
      <dgm:prSet phldrT="[Text]" phldr="0"/>
      <dgm:spPr/>
      <dgm:t>
        <a:bodyPr/>
        <a:lstStyle/>
        <a:p>
          <a:r>
            <a:rPr lang="en-US" dirty="0"/>
            <a:t>Soft limits</a:t>
          </a:r>
        </a:p>
      </dgm:t>
    </dgm:pt>
    <dgm:pt modelId="{4662B264-0D8A-4E8A-AEA3-14C6E3A332EC}" type="parTrans" cxnId="{E345ABEB-F794-4934-9A1C-CE6C550989A1}">
      <dgm:prSet/>
      <dgm:spPr/>
      <dgm:t>
        <a:bodyPr/>
        <a:lstStyle/>
        <a:p>
          <a:endParaRPr lang="en-US"/>
        </a:p>
      </dgm:t>
    </dgm:pt>
    <dgm:pt modelId="{9B91CECC-760A-4152-ABCD-12C006CC73EC}" type="sibTrans" cxnId="{E345ABEB-F794-4934-9A1C-CE6C550989A1}">
      <dgm:prSet/>
      <dgm:spPr/>
      <dgm:t>
        <a:bodyPr/>
        <a:lstStyle/>
        <a:p>
          <a:endParaRPr lang="en-US"/>
        </a:p>
      </dgm:t>
    </dgm:pt>
    <dgm:pt modelId="{E52BF9C0-87B7-4758-B889-3B8EE8287E74}">
      <dgm:prSet phldrT="[Text]" phldr="0"/>
      <dgm:spPr/>
      <dgm:t>
        <a:bodyPr/>
        <a:lstStyle/>
        <a:p>
          <a:r>
            <a:rPr lang="en-US" dirty="0"/>
            <a:t>Prompt</a:t>
          </a:r>
        </a:p>
      </dgm:t>
    </dgm:pt>
    <dgm:pt modelId="{F73FFF7A-D62D-432E-A713-60CE1DEA82B0}" type="parTrans" cxnId="{B0B0E69B-6E04-4C01-90B6-F54996E2A0FC}">
      <dgm:prSet/>
      <dgm:spPr/>
      <dgm:t>
        <a:bodyPr/>
        <a:lstStyle/>
        <a:p>
          <a:endParaRPr lang="en-US"/>
        </a:p>
      </dgm:t>
    </dgm:pt>
    <dgm:pt modelId="{2F264365-DD44-4E05-ADF8-36658327A994}" type="sibTrans" cxnId="{B0B0E69B-6E04-4C01-90B6-F54996E2A0FC}">
      <dgm:prSet/>
      <dgm:spPr/>
      <dgm:t>
        <a:bodyPr/>
        <a:lstStyle/>
        <a:p>
          <a:endParaRPr lang="en-US"/>
        </a:p>
      </dgm:t>
    </dgm:pt>
    <dgm:pt modelId="{ABDD74B2-6CAF-46E9-AB3F-F8F0B28E7D2C}">
      <dgm:prSet phldrT="[Text]" phldr="0"/>
      <dgm:spPr/>
      <dgm:t>
        <a:bodyPr/>
        <a:lstStyle/>
        <a:p>
          <a:r>
            <a:rPr lang="en-US" dirty="0"/>
            <a:t>Task-specific</a:t>
          </a:r>
        </a:p>
      </dgm:t>
    </dgm:pt>
    <dgm:pt modelId="{B6FD2EDF-1DCE-4146-A891-A23CD9D706F4}" type="parTrans" cxnId="{DF1AE1D8-FCC7-46E8-82AA-0985B382640D}">
      <dgm:prSet/>
      <dgm:spPr/>
      <dgm:t>
        <a:bodyPr/>
        <a:lstStyle/>
        <a:p>
          <a:endParaRPr lang="en-US"/>
        </a:p>
      </dgm:t>
    </dgm:pt>
    <dgm:pt modelId="{1E4B8F2C-F702-49DD-B8EE-0E0518E06266}" type="sibTrans" cxnId="{DF1AE1D8-FCC7-46E8-82AA-0985B382640D}">
      <dgm:prSet/>
      <dgm:spPr/>
      <dgm:t>
        <a:bodyPr/>
        <a:lstStyle/>
        <a:p>
          <a:endParaRPr lang="en-US"/>
        </a:p>
      </dgm:t>
    </dgm:pt>
    <dgm:pt modelId="{1EFA116B-48DB-4E15-97DD-3FBE83ECD772}">
      <dgm:prSet phldrT="[Text]" phldr="0"/>
      <dgm:spPr/>
      <dgm:t>
        <a:bodyPr/>
        <a:lstStyle/>
        <a:p>
          <a:r>
            <a:rPr lang="en-US" dirty="0"/>
            <a:t>Contains what you need for the specific task you are doing</a:t>
          </a:r>
        </a:p>
      </dgm:t>
    </dgm:pt>
    <dgm:pt modelId="{E12E29FA-B0DC-403D-88AF-A82A6D61232B}" type="parTrans" cxnId="{143A6855-84E6-4940-8062-611B573153AC}">
      <dgm:prSet/>
      <dgm:spPr/>
      <dgm:t>
        <a:bodyPr/>
        <a:lstStyle/>
        <a:p>
          <a:endParaRPr lang="en-US"/>
        </a:p>
      </dgm:t>
    </dgm:pt>
    <dgm:pt modelId="{9BD9B697-0457-4496-9D01-FA6936FDECD0}" type="sibTrans" cxnId="{143A6855-84E6-4940-8062-611B573153AC}">
      <dgm:prSet/>
      <dgm:spPr/>
      <dgm:t>
        <a:bodyPr/>
        <a:lstStyle/>
        <a:p>
          <a:endParaRPr lang="en-US"/>
        </a:p>
      </dgm:t>
    </dgm:pt>
    <dgm:pt modelId="{E2DD9738-1A34-4EB4-860F-75CC1F86D098}">
      <dgm:prSet phldrT="[Text]" phldr="0"/>
      <dgm:spPr/>
      <dgm:t>
        <a:bodyPr/>
        <a:lstStyle/>
        <a:p>
          <a:r>
            <a:rPr lang="en-US" dirty="0"/>
            <a:t>Helps agent build better prompts</a:t>
          </a:r>
        </a:p>
      </dgm:t>
    </dgm:pt>
    <dgm:pt modelId="{DA188FFE-5B67-48C4-B673-37BD92A438D1}" type="parTrans" cxnId="{F1E9A32B-5059-4D0A-BF61-AEC63C8B88FB}">
      <dgm:prSet/>
      <dgm:spPr/>
      <dgm:t>
        <a:bodyPr/>
        <a:lstStyle/>
        <a:p>
          <a:endParaRPr lang="en-US"/>
        </a:p>
      </dgm:t>
    </dgm:pt>
    <dgm:pt modelId="{A5BC3046-F5B2-40AA-9DC6-C3DDBBB9FBDC}" type="sibTrans" cxnId="{F1E9A32B-5059-4D0A-BF61-AEC63C8B88FB}">
      <dgm:prSet/>
      <dgm:spPr/>
      <dgm:t>
        <a:bodyPr/>
        <a:lstStyle/>
        <a:p>
          <a:endParaRPr lang="en-US"/>
        </a:p>
      </dgm:t>
    </dgm:pt>
    <dgm:pt modelId="{5B8191BC-1D72-47B4-BE98-6A5EDD9E24BE}">
      <dgm:prSet phldrT="[Text]" phldr="0"/>
      <dgm:spPr/>
      <dgm:t>
        <a:bodyPr/>
        <a:lstStyle/>
        <a:p>
          <a:r>
            <a:rPr lang="en-US" dirty="0"/>
            <a:t>Tool for connecting with hard limits</a:t>
          </a:r>
        </a:p>
      </dgm:t>
    </dgm:pt>
    <dgm:pt modelId="{08B96EB4-12B4-4550-A8F1-11AC2025B37C}" type="parTrans" cxnId="{F8B44629-976C-4578-A871-00484EB8C014}">
      <dgm:prSet/>
      <dgm:spPr/>
      <dgm:t>
        <a:bodyPr/>
        <a:lstStyle/>
        <a:p>
          <a:endParaRPr lang="en-US"/>
        </a:p>
      </dgm:t>
    </dgm:pt>
    <dgm:pt modelId="{2879F531-AEA6-4A48-AFC5-371769AE177A}" type="sibTrans" cxnId="{F8B44629-976C-4578-A871-00484EB8C014}">
      <dgm:prSet/>
      <dgm:spPr/>
      <dgm:t>
        <a:bodyPr/>
        <a:lstStyle/>
        <a:p>
          <a:endParaRPr lang="en-US"/>
        </a:p>
      </dgm:t>
    </dgm:pt>
    <dgm:pt modelId="{9A57429B-4903-481B-AFB8-6A258A275C8D}">
      <dgm:prSet phldrT="[Text]" phldr="0"/>
      <dgm:spPr/>
      <dgm:t>
        <a:bodyPr/>
        <a:lstStyle/>
        <a:p>
          <a:r>
            <a:rPr lang="en-US" dirty="0"/>
            <a:t>Guide for agent to use when doing specific tasks </a:t>
          </a:r>
        </a:p>
      </dgm:t>
    </dgm:pt>
    <dgm:pt modelId="{CFE12FD9-4A0C-4DA8-96E1-BFA9E4DD5184}" type="parTrans" cxnId="{F32F9554-3CEF-4882-A6D0-174432237D62}">
      <dgm:prSet/>
      <dgm:spPr/>
      <dgm:t>
        <a:bodyPr/>
        <a:lstStyle/>
        <a:p>
          <a:endParaRPr lang="en-US"/>
        </a:p>
      </dgm:t>
    </dgm:pt>
    <dgm:pt modelId="{6F96D11A-E928-4D29-81D1-CC25382A123A}" type="sibTrans" cxnId="{F32F9554-3CEF-4882-A6D0-174432237D62}">
      <dgm:prSet/>
      <dgm:spPr/>
      <dgm:t>
        <a:bodyPr/>
        <a:lstStyle/>
        <a:p>
          <a:endParaRPr lang="en-US"/>
        </a:p>
      </dgm:t>
    </dgm:pt>
    <dgm:pt modelId="{14D155BC-0A10-4E62-BF5D-16608C49AAED}">
      <dgm:prSet phldrT="[Text]" phldr="0"/>
      <dgm:spPr/>
      <dgm:t>
        <a:bodyPr/>
        <a:lstStyle/>
        <a:p>
          <a:r>
            <a:rPr lang="en-US" dirty="0"/>
            <a:t>Prompt then leads agent to use skills or tools</a:t>
          </a:r>
        </a:p>
      </dgm:t>
    </dgm:pt>
    <dgm:pt modelId="{4449E65E-4FBF-416F-8E76-64523E379AA3}" type="parTrans" cxnId="{8A7C359C-00B7-48C1-A352-84B7A75B812E}">
      <dgm:prSet/>
      <dgm:spPr/>
      <dgm:t>
        <a:bodyPr/>
        <a:lstStyle/>
        <a:p>
          <a:endParaRPr lang="en-US"/>
        </a:p>
      </dgm:t>
    </dgm:pt>
    <dgm:pt modelId="{B87FB46F-85B3-4A94-81DE-C2E8D8FF6623}" type="sibTrans" cxnId="{8A7C359C-00B7-48C1-A352-84B7A75B812E}">
      <dgm:prSet/>
      <dgm:spPr/>
      <dgm:t>
        <a:bodyPr/>
        <a:lstStyle/>
        <a:p>
          <a:endParaRPr lang="en-US"/>
        </a:p>
      </dgm:t>
    </dgm:pt>
    <dgm:pt modelId="{0F451985-C9E7-4EA9-AD2C-F0A843B7A0C0}">
      <dgm:prSet phldrT="[Text]" phldr="0"/>
      <dgm:spPr/>
      <dgm:t>
        <a:bodyPr/>
        <a:lstStyle/>
        <a:p>
          <a:r>
            <a:rPr lang="en-US" dirty="0"/>
            <a:t>Can encourage agent to use MCP tool</a:t>
          </a:r>
        </a:p>
      </dgm:t>
    </dgm:pt>
    <dgm:pt modelId="{B8CE9233-0504-49E6-8646-1A2B7DC20F76}" type="parTrans" cxnId="{432AFF7E-BCBC-485E-A8D2-3D74C9A8F82D}">
      <dgm:prSet/>
      <dgm:spPr/>
      <dgm:t>
        <a:bodyPr/>
        <a:lstStyle/>
        <a:p>
          <a:endParaRPr lang="en-US"/>
        </a:p>
      </dgm:t>
    </dgm:pt>
    <dgm:pt modelId="{6E8CA998-02E1-49BA-B746-3AB9B8C40ECE}" type="sibTrans" cxnId="{432AFF7E-BCBC-485E-A8D2-3D74C9A8F82D}">
      <dgm:prSet/>
      <dgm:spPr/>
      <dgm:t>
        <a:bodyPr/>
        <a:lstStyle/>
        <a:p>
          <a:endParaRPr lang="en-US"/>
        </a:p>
      </dgm:t>
    </dgm:pt>
    <dgm:pt modelId="{E2C9417E-A3EE-4A0D-A13F-F32B30621765}">
      <dgm:prSet phldrT="[Text]" phldr="0"/>
      <dgm:spPr/>
      <dgm:t>
        <a:bodyPr/>
        <a:lstStyle/>
        <a:p>
          <a:r>
            <a:rPr lang="en-US" dirty="0"/>
            <a:t>Similar to an API – not a prompt/AI itself</a:t>
          </a:r>
        </a:p>
      </dgm:t>
    </dgm:pt>
    <dgm:pt modelId="{A92A1162-3BCA-47EA-8AA6-4EB9B27B03FC}" type="parTrans" cxnId="{368EE098-D812-4EDE-8F91-B8042E48DB90}">
      <dgm:prSet/>
      <dgm:spPr/>
      <dgm:t>
        <a:bodyPr/>
        <a:lstStyle/>
        <a:p>
          <a:endParaRPr lang="en-US"/>
        </a:p>
      </dgm:t>
    </dgm:pt>
    <dgm:pt modelId="{0040A9A1-6F32-4ABE-B8D2-A7577CB305C4}" type="sibTrans" cxnId="{368EE098-D812-4EDE-8F91-B8042E48DB90}">
      <dgm:prSet/>
      <dgm:spPr/>
      <dgm:t>
        <a:bodyPr/>
        <a:lstStyle/>
        <a:p>
          <a:endParaRPr lang="en-US"/>
        </a:p>
      </dgm:t>
    </dgm:pt>
    <dgm:pt modelId="{3F282146-1899-45F8-BCBF-B101DFCA17CE}" type="pres">
      <dgm:prSet presAssocID="{F0551C0D-F432-4702-9F4F-CFEC90F9D398}" presName="Name0" presStyleCnt="0">
        <dgm:presLayoutVars>
          <dgm:dir/>
          <dgm:animLvl val="lvl"/>
          <dgm:resizeHandles val="exact"/>
        </dgm:presLayoutVars>
      </dgm:prSet>
      <dgm:spPr/>
    </dgm:pt>
    <dgm:pt modelId="{C45ABE53-A3BC-48F2-855D-B7C480E90B75}" type="pres">
      <dgm:prSet presAssocID="{7A448EBA-B30F-4ADE-A385-70346BF4AAC9}" presName="composite" presStyleCnt="0"/>
      <dgm:spPr/>
    </dgm:pt>
    <dgm:pt modelId="{F809992D-3C55-4853-9453-9EF6C841233D}" type="pres">
      <dgm:prSet presAssocID="{7A448EBA-B30F-4ADE-A385-70346BF4AAC9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15C6C082-F0F7-41A2-8606-0F70D02D1114}" type="pres">
      <dgm:prSet presAssocID="{7A448EBA-B30F-4ADE-A385-70346BF4AAC9}" presName="desTx" presStyleLbl="alignAccFollowNode1" presStyleIdx="0" presStyleCnt="3">
        <dgm:presLayoutVars>
          <dgm:bulletEnabled val="1"/>
        </dgm:presLayoutVars>
      </dgm:prSet>
      <dgm:spPr/>
    </dgm:pt>
    <dgm:pt modelId="{27C6ACA9-CAAD-4CDC-AD64-B7072880AB6A}" type="pres">
      <dgm:prSet presAssocID="{DE72D2A4-F1A6-42D5-AC12-89A848B80D5D}" presName="space" presStyleCnt="0"/>
      <dgm:spPr/>
    </dgm:pt>
    <dgm:pt modelId="{1805B5EE-BA72-48D2-80BC-B45C1AEFCF3D}" type="pres">
      <dgm:prSet presAssocID="{9A505C4B-29F5-4387-9073-2929D8954E3E}" presName="composite" presStyleCnt="0"/>
      <dgm:spPr/>
    </dgm:pt>
    <dgm:pt modelId="{219D0BA9-12B0-4519-B59E-8C2034C032BA}" type="pres">
      <dgm:prSet presAssocID="{9A505C4B-29F5-4387-9073-2929D8954E3E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141364D1-58A9-44A7-89DC-DDDC903F07A8}" type="pres">
      <dgm:prSet presAssocID="{9A505C4B-29F5-4387-9073-2929D8954E3E}" presName="desTx" presStyleLbl="alignAccFollowNode1" presStyleIdx="1" presStyleCnt="3">
        <dgm:presLayoutVars>
          <dgm:bulletEnabled val="1"/>
        </dgm:presLayoutVars>
      </dgm:prSet>
      <dgm:spPr/>
    </dgm:pt>
    <dgm:pt modelId="{B278CCF1-1598-4A07-A3BE-5020353B3111}" type="pres">
      <dgm:prSet presAssocID="{CAD7DD31-07DD-4CD8-95A5-4A3C90C0101E}" presName="space" presStyleCnt="0"/>
      <dgm:spPr/>
    </dgm:pt>
    <dgm:pt modelId="{A111AB59-DE6D-449F-846A-F6E60A8EC5E7}" type="pres">
      <dgm:prSet presAssocID="{E52BF9C0-87B7-4758-B889-3B8EE8287E74}" presName="composite" presStyleCnt="0"/>
      <dgm:spPr/>
    </dgm:pt>
    <dgm:pt modelId="{709BB47A-17F8-4EAE-B4E5-716692854929}" type="pres">
      <dgm:prSet presAssocID="{E52BF9C0-87B7-4758-B889-3B8EE8287E7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7A1D2427-B8CE-4807-A08B-E1B0FDF6021B}" type="pres">
      <dgm:prSet presAssocID="{E52BF9C0-87B7-4758-B889-3B8EE8287E7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C8C0AF07-9FC0-4C5E-8A3C-AC50E1C8DE7F}" type="presOf" srcId="{9A505C4B-29F5-4387-9073-2929D8954E3E}" destId="{219D0BA9-12B0-4519-B59E-8C2034C032BA}" srcOrd="0" destOrd="0" presId="urn:microsoft.com/office/officeart/2005/8/layout/hList1"/>
    <dgm:cxn modelId="{E6FD5911-43BA-4C90-B66B-7664C7514AD6}" type="presOf" srcId="{960A8D47-9FC9-433E-81CD-414967ED0BDF}" destId="{141364D1-58A9-44A7-89DC-DDDC903F07A8}" srcOrd="0" destOrd="2" presId="urn:microsoft.com/office/officeart/2005/8/layout/hList1"/>
    <dgm:cxn modelId="{F8B44629-976C-4578-A871-00484EB8C014}" srcId="{7A448EBA-B30F-4ADE-A385-70346BF4AAC9}" destId="{5B8191BC-1D72-47B4-BE98-6A5EDD9E24BE}" srcOrd="1" destOrd="0" parTransId="{08B96EB4-12B4-4550-A8F1-11AC2025B37C}" sibTransId="{2879F531-AEA6-4A48-AFC5-371769AE177A}"/>
    <dgm:cxn modelId="{F1E9A32B-5059-4D0A-BF61-AEC63C8B88FB}" srcId="{9A505C4B-29F5-4387-9073-2929D8954E3E}" destId="{E2DD9738-1A34-4EB4-860F-75CC1F86D098}" srcOrd="3" destOrd="0" parTransId="{DA188FFE-5B67-48C4-B673-37BD92A438D1}" sibTransId="{A5BC3046-F5B2-40AA-9DC6-C3DDBBB9FBDC}"/>
    <dgm:cxn modelId="{3905855C-AE89-401A-9C36-6F75337857FC}" type="presOf" srcId="{E2DD9738-1A34-4EB4-860F-75CC1F86D098}" destId="{141364D1-58A9-44A7-89DC-DDDC903F07A8}" srcOrd="0" destOrd="3" presId="urn:microsoft.com/office/officeart/2005/8/layout/hList1"/>
    <dgm:cxn modelId="{0775C85E-CA13-4631-A322-48EBFA2848BD}" type="presOf" srcId="{ABDD74B2-6CAF-46E9-AB3F-F8F0B28E7D2C}" destId="{7A1D2427-B8CE-4807-A08B-E1B0FDF6021B}" srcOrd="0" destOrd="0" presId="urn:microsoft.com/office/officeart/2005/8/layout/hList1"/>
    <dgm:cxn modelId="{2F5B3866-FE52-41D2-8525-A2FCA083A6E7}" srcId="{9A505C4B-29F5-4387-9073-2929D8954E3E}" destId="{FD33AF22-6C18-42D4-96CE-989F3901FDF1}" srcOrd="0" destOrd="0" parTransId="{C6857A3C-4D8A-41AD-85CF-4D4CD305F9F8}" sibTransId="{92E0763B-3BBB-47BE-922A-4A3E0E1CCB1D}"/>
    <dgm:cxn modelId="{9010E149-2179-4ACB-94C8-F1434D263C4F}" type="presOf" srcId="{E52BF9C0-87B7-4758-B889-3B8EE8287E74}" destId="{709BB47A-17F8-4EAE-B4E5-716692854929}" srcOrd="0" destOrd="0" presId="urn:microsoft.com/office/officeart/2005/8/layout/hList1"/>
    <dgm:cxn modelId="{8F20914A-D2BD-4CDD-97C7-3AB60CA77B27}" srcId="{F0551C0D-F432-4702-9F4F-CFEC90F9D398}" destId="{7A448EBA-B30F-4ADE-A385-70346BF4AAC9}" srcOrd="0" destOrd="0" parTransId="{40FC1B25-8A78-4E50-BAA3-E4EB91AEC98E}" sibTransId="{DE72D2A4-F1A6-42D5-AC12-89A848B80D5D}"/>
    <dgm:cxn modelId="{16629B4A-8D8C-453A-9F57-797D053E95D6}" type="presOf" srcId="{0F451985-C9E7-4EA9-AD2C-F0A843B7A0C0}" destId="{141364D1-58A9-44A7-89DC-DDDC903F07A8}" srcOrd="0" destOrd="4" presId="urn:microsoft.com/office/officeart/2005/8/layout/hList1"/>
    <dgm:cxn modelId="{0DB9AD4B-262F-44CA-B2DB-D6D1C4799654}" type="presOf" srcId="{14D155BC-0A10-4E62-BF5D-16608C49AAED}" destId="{7A1D2427-B8CE-4807-A08B-E1B0FDF6021B}" srcOrd="0" destOrd="2" presId="urn:microsoft.com/office/officeart/2005/8/layout/hList1"/>
    <dgm:cxn modelId="{F32F9554-3CEF-4882-A6D0-174432237D62}" srcId="{9A505C4B-29F5-4387-9073-2929D8954E3E}" destId="{9A57429B-4903-481B-AFB8-6A258A275C8D}" srcOrd="1" destOrd="0" parTransId="{CFE12FD9-4A0C-4DA8-96E1-BFA9E4DD5184}" sibTransId="{6F96D11A-E928-4D29-81D1-CC25382A123A}"/>
    <dgm:cxn modelId="{143A6855-84E6-4940-8062-611B573153AC}" srcId="{E52BF9C0-87B7-4758-B889-3B8EE8287E74}" destId="{1EFA116B-48DB-4E15-97DD-3FBE83ECD772}" srcOrd="1" destOrd="0" parTransId="{E12E29FA-B0DC-403D-88AF-A82A6D61232B}" sibTransId="{9BD9B697-0457-4496-9D01-FA6936FDECD0}"/>
    <dgm:cxn modelId="{E4687D59-39FD-48CB-9846-FF52BF6966CA}" type="presOf" srcId="{F0551C0D-F432-4702-9F4F-CFEC90F9D398}" destId="{3F282146-1899-45F8-BCBF-B101DFCA17CE}" srcOrd="0" destOrd="0" presId="urn:microsoft.com/office/officeart/2005/8/layout/hList1"/>
    <dgm:cxn modelId="{59DBA059-8014-4C63-89B6-D3688151D8F4}" srcId="{7A448EBA-B30F-4ADE-A385-70346BF4AAC9}" destId="{DE1C067B-C2DC-41B6-9312-F2DE544B8091}" srcOrd="0" destOrd="0" parTransId="{28A95508-EBC1-49DB-A650-A74A87C51BEE}" sibTransId="{5DF65954-22EA-491C-8A33-F41C54978B57}"/>
    <dgm:cxn modelId="{5C03B57D-5AC4-4190-9ABE-35BAA77C9645}" type="presOf" srcId="{7A448EBA-B30F-4ADE-A385-70346BF4AAC9}" destId="{F809992D-3C55-4853-9453-9EF6C841233D}" srcOrd="0" destOrd="0" presId="urn:microsoft.com/office/officeart/2005/8/layout/hList1"/>
    <dgm:cxn modelId="{432AFF7E-BCBC-485E-A8D2-3D74C9A8F82D}" srcId="{9A505C4B-29F5-4387-9073-2929D8954E3E}" destId="{0F451985-C9E7-4EA9-AD2C-F0A843B7A0C0}" srcOrd="4" destOrd="0" parTransId="{B8CE9233-0504-49E6-8646-1A2B7DC20F76}" sibTransId="{6E8CA998-02E1-49BA-B746-3AB9B8C40ECE}"/>
    <dgm:cxn modelId="{621C5B8D-081D-47B0-A355-50F865E9F42F}" type="presOf" srcId="{E2C9417E-A3EE-4A0D-A13F-F32B30621765}" destId="{15C6C082-F0F7-41A2-8606-0F70D02D1114}" srcOrd="0" destOrd="3" presId="urn:microsoft.com/office/officeart/2005/8/layout/hList1"/>
    <dgm:cxn modelId="{71533891-27D8-499F-B675-B7B407C88298}" type="presOf" srcId="{9A57429B-4903-481B-AFB8-6A258A275C8D}" destId="{141364D1-58A9-44A7-89DC-DDDC903F07A8}" srcOrd="0" destOrd="1" presId="urn:microsoft.com/office/officeart/2005/8/layout/hList1"/>
    <dgm:cxn modelId="{ABAF1692-B729-4620-8F3A-8FEEF6E6865E}" srcId="{F0551C0D-F432-4702-9F4F-CFEC90F9D398}" destId="{9A505C4B-29F5-4387-9073-2929D8954E3E}" srcOrd="1" destOrd="0" parTransId="{8F7C072F-A2F2-4D11-A8F0-A01C4A918016}" sibTransId="{CAD7DD31-07DD-4CD8-95A5-4A3C90C0101E}"/>
    <dgm:cxn modelId="{65C02996-CD94-4E5E-BDB9-99DD8ADB68E8}" type="presOf" srcId="{1EFA116B-48DB-4E15-97DD-3FBE83ECD772}" destId="{7A1D2427-B8CE-4807-A08B-E1B0FDF6021B}" srcOrd="0" destOrd="1" presId="urn:microsoft.com/office/officeart/2005/8/layout/hList1"/>
    <dgm:cxn modelId="{368EE098-D812-4EDE-8F91-B8042E48DB90}" srcId="{7A448EBA-B30F-4ADE-A385-70346BF4AAC9}" destId="{E2C9417E-A3EE-4A0D-A13F-F32B30621765}" srcOrd="3" destOrd="0" parTransId="{A92A1162-3BCA-47EA-8AA6-4EB9B27B03FC}" sibTransId="{0040A9A1-6F32-4ABE-B8D2-A7577CB305C4}"/>
    <dgm:cxn modelId="{B0B0E69B-6E04-4C01-90B6-F54996E2A0FC}" srcId="{F0551C0D-F432-4702-9F4F-CFEC90F9D398}" destId="{E52BF9C0-87B7-4758-B889-3B8EE8287E74}" srcOrd="2" destOrd="0" parTransId="{F73FFF7A-D62D-432E-A713-60CE1DEA82B0}" sibTransId="{2F264365-DD44-4E05-ADF8-36658327A994}"/>
    <dgm:cxn modelId="{8A7C359C-00B7-48C1-A352-84B7A75B812E}" srcId="{E52BF9C0-87B7-4758-B889-3B8EE8287E74}" destId="{14D155BC-0A10-4E62-BF5D-16608C49AAED}" srcOrd="2" destOrd="0" parTransId="{4449E65E-4FBF-416F-8E76-64523E379AA3}" sibTransId="{B87FB46F-85B3-4A94-81DE-C2E8D8FF6623}"/>
    <dgm:cxn modelId="{C5BCFCB6-AA49-4743-AC17-390629EF72D2}" srcId="{7A448EBA-B30F-4ADE-A385-70346BF4AAC9}" destId="{B9F1E57C-6D76-40CB-95D9-32BA7BC3E37B}" srcOrd="2" destOrd="0" parTransId="{A93D9EEE-5E35-422B-9688-AE04902AED82}" sibTransId="{9F462848-8AEE-4B6F-9765-5858CDD5C00B}"/>
    <dgm:cxn modelId="{C56BF7E6-2EFD-40C6-A3FD-0D3EBB998432}" type="presOf" srcId="{B9F1E57C-6D76-40CB-95D9-32BA7BC3E37B}" destId="{15C6C082-F0F7-41A2-8606-0F70D02D1114}" srcOrd="0" destOrd="2" presId="urn:microsoft.com/office/officeart/2005/8/layout/hList1"/>
    <dgm:cxn modelId="{E1A54DE8-0113-43A2-A17A-C0BEDEFC4824}" type="presOf" srcId="{5B8191BC-1D72-47B4-BE98-6A5EDD9E24BE}" destId="{15C6C082-F0F7-41A2-8606-0F70D02D1114}" srcOrd="0" destOrd="1" presId="urn:microsoft.com/office/officeart/2005/8/layout/hList1"/>
    <dgm:cxn modelId="{06642FE9-1AAC-41B8-BEF3-EBCBE1B2DD76}" type="presOf" srcId="{DE1C067B-C2DC-41B6-9312-F2DE544B8091}" destId="{15C6C082-F0F7-41A2-8606-0F70D02D1114}" srcOrd="0" destOrd="0" presId="urn:microsoft.com/office/officeart/2005/8/layout/hList1"/>
    <dgm:cxn modelId="{E345ABEB-F794-4934-9A1C-CE6C550989A1}" srcId="{9A505C4B-29F5-4387-9073-2929D8954E3E}" destId="{960A8D47-9FC9-433E-81CD-414967ED0BDF}" srcOrd="2" destOrd="0" parTransId="{4662B264-0D8A-4E8A-AEA3-14C6E3A332EC}" sibTransId="{9B91CECC-760A-4152-ABCD-12C006CC73EC}"/>
    <dgm:cxn modelId="{1B6857D8-C098-48C1-A850-328B585A7992}" type="presOf" srcId="{FD33AF22-6C18-42D4-96CE-989F3901FDF1}" destId="{141364D1-58A9-44A7-89DC-DDDC903F07A8}" srcOrd="0" destOrd="0" presId="urn:microsoft.com/office/officeart/2005/8/layout/hList1"/>
    <dgm:cxn modelId="{DF1AE1D8-FCC7-46E8-82AA-0985B382640D}" srcId="{E52BF9C0-87B7-4758-B889-3B8EE8287E74}" destId="{ABDD74B2-6CAF-46E9-AB3F-F8F0B28E7D2C}" srcOrd="0" destOrd="0" parTransId="{B6FD2EDF-1DCE-4146-A891-A23CD9D706F4}" sibTransId="{1E4B8F2C-F702-49DD-B8EE-0E0518E06266}"/>
    <dgm:cxn modelId="{C75FC3FF-D135-4820-854B-5A61A314CAB5}" type="presParOf" srcId="{3F282146-1899-45F8-BCBF-B101DFCA17CE}" destId="{C45ABE53-A3BC-48F2-855D-B7C480E90B75}" srcOrd="0" destOrd="0" presId="urn:microsoft.com/office/officeart/2005/8/layout/hList1"/>
    <dgm:cxn modelId="{6CD08AA4-9CBE-42E0-B1A0-1A9FCAC8AE48}" type="presParOf" srcId="{C45ABE53-A3BC-48F2-855D-B7C480E90B75}" destId="{F809992D-3C55-4853-9453-9EF6C841233D}" srcOrd="0" destOrd="0" presId="urn:microsoft.com/office/officeart/2005/8/layout/hList1"/>
    <dgm:cxn modelId="{579A5B87-5381-43F3-A0B8-85EFCEAC6570}" type="presParOf" srcId="{C45ABE53-A3BC-48F2-855D-B7C480E90B75}" destId="{15C6C082-F0F7-41A2-8606-0F70D02D1114}" srcOrd="1" destOrd="0" presId="urn:microsoft.com/office/officeart/2005/8/layout/hList1"/>
    <dgm:cxn modelId="{C2C26BFC-2E6F-42AB-955A-A8B5024459E8}" type="presParOf" srcId="{3F282146-1899-45F8-BCBF-B101DFCA17CE}" destId="{27C6ACA9-CAAD-4CDC-AD64-B7072880AB6A}" srcOrd="1" destOrd="0" presId="urn:microsoft.com/office/officeart/2005/8/layout/hList1"/>
    <dgm:cxn modelId="{365BE815-6037-48DD-B413-634CF4790632}" type="presParOf" srcId="{3F282146-1899-45F8-BCBF-B101DFCA17CE}" destId="{1805B5EE-BA72-48D2-80BC-B45C1AEFCF3D}" srcOrd="2" destOrd="0" presId="urn:microsoft.com/office/officeart/2005/8/layout/hList1"/>
    <dgm:cxn modelId="{0AD0B379-BF77-4BF5-9774-23E7951C04BD}" type="presParOf" srcId="{1805B5EE-BA72-48D2-80BC-B45C1AEFCF3D}" destId="{219D0BA9-12B0-4519-B59E-8C2034C032BA}" srcOrd="0" destOrd="0" presId="urn:microsoft.com/office/officeart/2005/8/layout/hList1"/>
    <dgm:cxn modelId="{9DE51E74-5CC7-44C0-9646-1E95DB75DC1D}" type="presParOf" srcId="{1805B5EE-BA72-48D2-80BC-B45C1AEFCF3D}" destId="{141364D1-58A9-44A7-89DC-DDDC903F07A8}" srcOrd="1" destOrd="0" presId="urn:microsoft.com/office/officeart/2005/8/layout/hList1"/>
    <dgm:cxn modelId="{5CDF2D18-A4F2-41DF-94FC-0B940E336944}" type="presParOf" srcId="{3F282146-1899-45F8-BCBF-B101DFCA17CE}" destId="{B278CCF1-1598-4A07-A3BE-5020353B3111}" srcOrd="3" destOrd="0" presId="urn:microsoft.com/office/officeart/2005/8/layout/hList1"/>
    <dgm:cxn modelId="{221E5542-C813-4D8C-AE4B-3577827FFF47}" type="presParOf" srcId="{3F282146-1899-45F8-BCBF-B101DFCA17CE}" destId="{A111AB59-DE6D-449F-846A-F6E60A8EC5E7}" srcOrd="4" destOrd="0" presId="urn:microsoft.com/office/officeart/2005/8/layout/hList1"/>
    <dgm:cxn modelId="{54639661-E6C1-4F4F-96F1-829DDA082B0E}" type="presParOf" srcId="{A111AB59-DE6D-449F-846A-F6E60A8EC5E7}" destId="{709BB47A-17F8-4EAE-B4E5-716692854929}" srcOrd="0" destOrd="0" presId="urn:microsoft.com/office/officeart/2005/8/layout/hList1"/>
    <dgm:cxn modelId="{12925F44-58B5-4E9F-B3C5-FFA6C2A6F5E1}" type="presParOf" srcId="{A111AB59-DE6D-449F-846A-F6E60A8EC5E7}" destId="{7A1D2427-B8CE-4807-A08B-E1B0FDF6021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09992D-3C55-4853-9453-9EF6C841233D}">
      <dsp:nvSpPr>
        <dsp:cNvPr id="0" name=""/>
        <dsp:cNvSpPr/>
      </dsp:nvSpPr>
      <dsp:spPr>
        <a:xfrm>
          <a:off x="4286" y="181035"/>
          <a:ext cx="4179094" cy="97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MCP</a:t>
          </a:r>
        </a:p>
      </dsp:txBody>
      <dsp:txXfrm>
        <a:off x="4286" y="181035"/>
        <a:ext cx="4179094" cy="979200"/>
      </dsp:txXfrm>
    </dsp:sp>
    <dsp:sp modelId="{15C6C082-F0F7-41A2-8606-0F70D02D1114}">
      <dsp:nvSpPr>
        <dsp:cNvPr id="0" name=""/>
        <dsp:cNvSpPr/>
      </dsp:nvSpPr>
      <dsp:spPr>
        <a:xfrm>
          <a:off x="4286" y="1160235"/>
          <a:ext cx="4179094" cy="567854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System-wide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Tool for connecting with hard limits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Automatically used; does not modify prompt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Similar to an API – not a prompt/AI itself</a:t>
          </a:r>
        </a:p>
      </dsp:txBody>
      <dsp:txXfrm>
        <a:off x="4286" y="1160235"/>
        <a:ext cx="4179094" cy="5678547"/>
      </dsp:txXfrm>
    </dsp:sp>
    <dsp:sp modelId="{219D0BA9-12B0-4519-B59E-8C2034C032BA}">
      <dsp:nvSpPr>
        <dsp:cNvPr id="0" name=""/>
        <dsp:cNvSpPr/>
      </dsp:nvSpPr>
      <dsp:spPr>
        <a:xfrm>
          <a:off x="4768453" y="181035"/>
          <a:ext cx="4179094" cy="97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Skill</a:t>
          </a:r>
        </a:p>
      </dsp:txBody>
      <dsp:txXfrm>
        <a:off x="4768453" y="181035"/>
        <a:ext cx="4179094" cy="979200"/>
      </dsp:txXfrm>
    </dsp:sp>
    <dsp:sp modelId="{141364D1-58A9-44A7-89DC-DDDC903F07A8}">
      <dsp:nvSpPr>
        <dsp:cNvPr id="0" name=""/>
        <dsp:cNvSpPr/>
      </dsp:nvSpPr>
      <dsp:spPr>
        <a:xfrm>
          <a:off x="4768453" y="1160235"/>
          <a:ext cx="4179094" cy="567854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System-wide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Guide for agent to use when doing specific tasks 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Soft limits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Helps agent build better prompts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Can encourage agent to use MCP tool</a:t>
          </a:r>
        </a:p>
      </dsp:txBody>
      <dsp:txXfrm>
        <a:off x="4768453" y="1160235"/>
        <a:ext cx="4179094" cy="5678547"/>
      </dsp:txXfrm>
    </dsp:sp>
    <dsp:sp modelId="{709BB47A-17F8-4EAE-B4E5-716692854929}">
      <dsp:nvSpPr>
        <dsp:cNvPr id="0" name=""/>
        <dsp:cNvSpPr/>
      </dsp:nvSpPr>
      <dsp:spPr>
        <a:xfrm>
          <a:off x="9532620" y="181035"/>
          <a:ext cx="4179094" cy="979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808" tIns="138176" rIns="241808" bIns="138176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Prompt</a:t>
          </a:r>
        </a:p>
      </dsp:txBody>
      <dsp:txXfrm>
        <a:off x="9532620" y="181035"/>
        <a:ext cx="4179094" cy="979200"/>
      </dsp:txXfrm>
    </dsp:sp>
    <dsp:sp modelId="{7A1D2427-B8CE-4807-A08B-E1B0FDF6021B}">
      <dsp:nvSpPr>
        <dsp:cNvPr id="0" name=""/>
        <dsp:cNvSpPr/>
      </dsp:nvSpPr>
      <dsp:spPr>
        <a:xfrm>
          <a:off x="9532620" y="1160235"/>
          <a:ext cx="4179094" cy="567854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1356" tIns="181356" rIns="241808" bIns="272034" numCol="1" spcCol="1270" anchor="t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Task-specific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Contains what you need for the specific task you are doing</a:t>
          </a: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 dirty="0"/>
            <a:t>Prompt then leads agent to use skills or tools</a:t>
          </a:r>
        </a:p>
      </dsp:txBody>
      <dsp:txXfrm>
        <a:off x="9532620" y="1160235"/>
        <a:ext cx="4179094" cy="56785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ags" Target="../tags/tag14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7A8A3785-BF0E-6C8B-8B7B-0521D7696A29}"/>
              </a:ext>
            </a:extLst>
          </p:cNvPr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1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300" cap="none" spc="50" normalizeH="0" baseline="0" noProof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DEF6B2A-6211-F846-C47F-DC10CAA8C891}"/>
              </a:ext>
            </a:extLst>
          </p:cNvPr>
          <p:cNvSpPr txBox="1"/>
          <p:nvPr/>
        </p:nvSpPr>
        <p:spPr>
          <a:xfrm>
            <a:off x="2493335" y="8717132"/>
            <a:ext cx="187133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fld id="{C4EF46A2-9381-4C51-8277-3C7F2938E9F9}" type="slidenum">
              <a:rPr lang="en-US" sz="1000">
                <a:solidFill>
                  <a:schemeClr val="accent4"/>
                </a:solidFill>
                <a:latin typeface="+mj-lt"/>
              </a:rPr>
              <a:pPr algn="ctr" defTabSz="182880"/>
              <a:t>‹#›</a:t>
            </a:fld>
            <a:endParaRPr lang="en-US" sz="1000" b="1">
              <a:solidFill>
                <a:schemeClr val="accent4"/>
              </a:solidFill>
              <a:latin typeface="+mj-lt"/>
            </a:endParaRPr>
          </a:p>
        </p:txBody>
      </p:sp>
      <p:pic>
        <p:nvPicPr>
          <p:cNvPr id="7" name="Innovate Logo">
            <a:extLst>
              <a:ext uri="{FF2B5EF4-FFF2-40B4-BE49-F238E27FC236}">
                <a16:creationId xmlns:a16="http://schemas.microsoft.com/office/drawing/2014/main" id="{3B423C95-8827-65AD-D8E4-A9D17335A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7627" y="8692401"/>
            <a:ext cx="1108805" cy="295681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626892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nnovate Logo">
            <a:extLst>
              <a:ext uri="{FF2B5EF4-FFF2-40B4-BE49-F238E27FC236}">
                <a16:creationId xmlns:a16="http://schemas.microsoft.com/office/drawing/2014/main" id="{48B6EF21-956E-EE01-719A-6EFD0353D1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7627" y="8692401"/>
            <a:ext cx="1108805" cy="295681"/>
          </a:xfrm>
          <a:prstGeom prst="rect">
            <a:avLst/>
          </a:prstGeom>
        </p:spPr>
      </p:pic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FAEC8D7-15A6-6F9F-E0B7-CB248431A52A}"/>
              </a:ext>
            </a:extLst>
          </p:cNvPr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13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300" cap="none" spc="50" normalizeH="0" baseline="0" noProof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F607DE50-086C-7432-5C71-ADF401D86D53}"/>
              </a:ext>
            </a:extLst>
          </p:cNvPr>
          <p:cNvSpPr txBox="1"/>
          <p:nvPr/>
        </p:nvSpPr>
        <p:spPr>
          <a:xfrm>
            <a:off x="2493335" y="8717132"/>
            <a:ext cx="1871330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fld id="{C4EF46A2-9381-4C51-8277-3C7F2938E9F9}" type="slidenum">
              <a:rPr lang="en-US" sz="1000" smtClean="0">
                <a:solidFill>
                  <a:schemeClr val="tx2"/>
                </a:solidFill>
                <a:latin typeface="+mj-lt"/>
              </a:rPr>
              <a:pPr algn="ctr" defTabSz="182880"/>
              <a:t>‹#›</a:t>
            </a:fld>
            <a:endParaRPr lang="en-US" sz="1000" b="1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5376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3429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•"/>
      <a:defRPr sz="2400" b="0" i="0" kern="1200">
        <a:solidFill>
          <a:schemeClr val="tx1"/>
        </a:solidFill>
        <a:latin typeface="+mn-lt"/>
        <a:ea typeface="+mn-ea"/>
        <a:cs typeface="+mn-cs"/>
      </a:defRPr>
    </a:lvl1pPr>
    <a:lvl2pPr marL="12573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–"/>
      <a:defRPr sz="2000" b="0" i="0" kern="1200">
        <a:solidFill>
          <a:schemeClr val="tx1"/>
        </a:solidFill>
        <a:latin typeface="+mn-lt"/>
        <a:ea typeface="+mn-ea"/>
        <a:cs typeface="+mn-cs"/>
      </a:defRPr>
    </a:lvl2pPr>
    <a:lvl3pPr marL="21717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•"/>
      <a:defRPr sz="1800" b="0" i="0" kern="1200">
        <a:solidFill>
          <a:schemeClr val="tx1"/>
        </a:solidFill>
        <a:latin typeface="+mn-lt"/>
        <a:ea typeface="+mn-ea"/>
        <a:cs typeface="+mn-cs"/>
      </a:defRPr>
    </a:lvl3pPr>
    <a:lvl4pPr marL="30861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–"/>
      <a:defRPr sz="1600" b="0" i="0" kern="1200">
        <a:solidFill>
          <a:schemeClr val="tx1"/>
        </a:solidFill>
        <a:latin typeface="+mn-lt"/>
        <a:ea typeface="+mn-ea"/>
        <a:cs typeface="+mn-cs"/>
      </a:defRPr>
    </a:lvl4pPr>
    <a:lvl5pPr marL="4000500" indent="-342900" algn="l" defTabSz="1828800" rtl="0" eaLnBrk="1" latinLnBrk="0" hangingPunct="1">
      <a:buClr>
        <a:schemeClr val="accent5"/>
      </a:buClr>
      <a:buFont typeface="Anova Light" panose="020B0403020203020204" pitchFamily="34" charset="0"/>
      <a:buChar char="•"/>
      <a:defRPr sz="1400" b="0" i="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slide – show it writing code</a:t>
            </a:r>
          </a:p>
        </p:txBody>
      </p:sp>
    </p:spTree>
    <p:extLst>
      <p:ext uri="{BB962C8B-B14F-4D97-AF65-F5344CB8AC3E}">
        <p14:creationId xmlns:p14="http://schemas.microsoft.com/office/powerpoint/2010/main" val="4039212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 of options/</a:t>
            </a:r>
            <a:r>
              <a:rPr lang="en-US" dirty="0" err="1"/>
              <a:t>etc</a:t>
            </a:r>
            <a:r>
              <a:rPr lang="en-US" dirty="0"/>
              <a:t> on a next slide</a:t>
            </a:r>
          </a:p>
        </p:txBody>
      </p:sp>
    </p:spTree>
    <p:extLst>
      <p:ext uri="{BB962C8B-B14F-4D97-AF65-F5344CB8AC3E}">
        <p14:creationId xmlns:p14="http://schemas.microsoft.com/office/powerpoint/2010/main" val="1160448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8.sv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7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74CFF31E-5970-2B3C-9065-71384F7EB7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" r="5"/>
          <a:stretch/>
        </p:blipFill>
        <p:spPr>
          <a:xfrm>
            <a:off x="0" y="0"/>
            <a:ext cx="18286010" cy="10287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633C029C-2B75-6173-4382-6F25D8352D9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52431" y="1229026"/>
            <a:ext cx="3920819" cy="94519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0B94ACF-FBD5-D709-38B4-6C2101FA69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798" r="23581" b="12679"/>
          <a:stretch>
            <a:fillRect/>
          </a:stretch>
        </p:blipFill>
        <p:spPr>
          <a:xfrm>
            <a:off x="11901387" y="0"/>
            <a:ext cx="6386614" cy="10287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B679E91-B2F1-7013-ED34-D7763B6530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2432" y="3789284"/>
            <a:ext cx="12123722" cy="2646878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Slideshow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390F57-72E5-BAC5-624C-175BE96B85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2432" y="6635415"/>
            <a:ext cx="12123722" cy="923330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4800">
                <a:solidFill>
                  <a:schemeClr val="bg1"/>
                </a:solidFill>
              </a:defRPr>
            </a:lvl1pPr>
            <a:lvl2pPr marL="365760" indent="0">
              <a:buNone/>
              <a:defRPr>
                <a:solidFill>
                  <a:schemeClr val="accent3"/>
                </a:solidFill>
              </a:defRPr>
            </a:lvl2pPr>
            <a:lvl3pPr marL="731520" indent="0">
              <a:buNone/>
              <a:defRPr>
                <a:solidFill>
                  <a:schemeClr val="accent3"/>
                </a:solidFill>
              </a:defRPr>
            </a:lvl3pPr>
            <a:lvl4pPr marL="2057400" indent="0">
              <a:buNone/>
              <a:defRPr>
                <a:solidFill>
                  <a:schemeClr val="accent3"/>
                </a:solidFill>
              </a:defRPr>
            </a:lvl4pPr>
            <a:lvl5pPr marL="27432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Slideshow Subtitle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09F2823-4E77-2A7D-7016-D7FDA3B5503B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8B09671-0A5C-6EDB-18B4-6D08DAC407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52432" y="8276977"/>
            <a:ext cx="7639044" cy="1057522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800">
                <a:solidFill>
                  <a:schemeClr val="accent3"/>
                </a:solidFill>
              </a:defRPr>
            </a:lvl1pPr>
            <a:lvl2pPr marL="365760" indent="0">
              <a:buNone/>
              <a:defRPr sz="2200">
                <a:solidFill>
                  <a:schemeClr val="accent3"/>
                </a:solidFill>
              </a:defRPr>
            </a:lvl2pPr>
            <a:lvl3pPr marL="731520" indent="0">
              <a:buNone/>
              <a:defRPr sz="2100">
                <a:solidFill>
                  <a:schemeClr val="accent3"/>
                </a:solidFill>
              </a:defRPr>
            </a:lvl3pPr>
            <a:lvl4pPr marL="2057400" indent="0">
              <a:buNone/>
              <a:defRPr sz="2000">
                <a:solidFill>
                  <a:schemeClr val="accent3"/>
                </a:solidFill>
              </a:defRPr>
            </a:lvl4pPr>
            <a:lvl5pPr marL="2743200" indent="0">
              <a:buNone/>
              <a:defRPr sz="2000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Presenter Info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2379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B679E91-B2F1-7013-ED34-D7763B6530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2432" y="3850838"/>
            <a:ext cx="12123722" cy="1292662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Section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A390F57-72E5-BAC5-624C-175BE96B851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2432" y="5342753"/>
            <a:ext cx="12123722" cy="923330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4800">
                <a:solidFill>
                  <a:schemeClr val="bg1"/>
                </a:solidFill>
              </a:defRPr>
            </a:lvl1pPr>
            <a:lvl2pPr marL="365760" indent="0">
              <a:buNone/>
              <a:defRPr>
                <a:solidFill>
                  <a:schemeClr val="accent3"/>
                </a:solidFill>
              </a:defRPr>
            </a:lvl2pPr>
            <a:lvl3pPr marL="731520" indent="0">
              <a:buNone/>
              <a:defRPr>
                <a:solidFill>
                  <a:schemeClr val="accent3"/>
                </a:solidFill>
              </a:defRPr>
            </a:lvl3pPr>
            <a:lvl4pPr marL="2057400" indent="0">
              <a:buNone/>
              <a:defRPr>
                <a:solidFill>
                  <a:schemeClr val="accent3"/>
                </a:solidFill>
              </a:defRPr>
            </a:lvl4pPr>
            <a:lvl5pPr marL="27432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/>
              <a:t>Click to Add Section Subtitle</a:t>
            </a:r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C09F2823-4E77-2A7D-7016-D7FDA3B5503B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7302D65-4CA7-40B4-4AA9-9AF81C22CA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826158" y="9516543"/>
            <a:ext cx="1112812" cy="46192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2CCC289-03ED-6526-6407-D99062C10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907" y="9516058"/>
            <a:ext cx="2532280" cy="2851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42259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6F060396-EEE3-A20F-EF3B-666AF65526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710304"/>
            <a:ext cx="15773400" cy="77559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/>
              <a:t>Click to Add 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1998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0EF35-062A-4CF7-B99A-D6EF688F370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1562100"/>
            <a:ext cx="15773400" cy="5493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365760" indent="0">
              <a:buNone/>
              <a:defRPr/>
            </a:lvl2pPr>
            <a:lvl3pPr marL="73152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9063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4E85CBA-188F-58DF-65B2-BD90C57AB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00300"/>
            <a:ext cx="15773400" cy="68651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3600"/>
            </a:lvl1pPr>
            <a:lvl2pPr>
              <a:defRPr sz="2800"/>
            </a:lvl2pPr>
            <a:lvl3pPr>
              <a:defRPr sz="2400"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A71ABFD-7D9E-8B81-8F10-AD3B259CD53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1562100"/>
            <a:ext cx="15773400" cy="5493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365760" indent="0">
              <a:buNone/>
              <a:defRPr/>
            </a:lvl2pPr>
            <a:lvl3pPr marL="73152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865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37A3D09-8DDB-0D78-49A3-63D553286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299" y="2400300"/>
            <a:ext cx="7741846" cy="68651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3600"/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B0C531-8D77-DB91-D733-89B75593C4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288856" y="2400300"/>
            <a:ext cx="7741848" cy="68651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3600"/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28E5A1D-0F7C-C89E-926C-359A1E6C4B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300" y="1562100"/>
            <a:ext cx="15773400" cy="54938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365760" indent="0">
              <a:buNone/>
              <a:defRPr/>
            </a:lvl2pPr>
            <a:lvl3pPr marL="73152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2175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932B69-D114-4F04-8825-FD80DE780B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7300" y="4367905"/>
            <a:ext cx="4428276" cy="1551194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Add 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96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CB0DC36-25B4-46CA-542D-A6308DDA0A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57299" y="5920995"/>
            <a:ext cx="5004350" cy="54938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365760" indent="0">
              <a:buNone/>
              <a:defRPr/>
            </a:lvl2pPr>
            <a:lvl3pPr marL="73152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4D011-6D65-0AE8-97A7-B5392D2B3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2432" y="4150330"/>
            <a:ext cx="5001768" cy="1554480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/>
              <a:t>Click to Add 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2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4C1968F1-6D8F-F84F-BA5B-51E28AE729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" r="5"/>
          <a:stretch/>
        </p:blipFill>
        <p:spPr>
          <a:xfrm>
            <a:off x="0" y="0"/>
            <a:ext cx="18286010" cy="10287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B679E91-B2F1-7013-ED34-D7763B6530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52432" y="4497169"/>
            <a:ext cx="13063133" cy="1292662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600"/>
              </a:spcBef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Slideshow Closing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54AD1B71-161A-0685-52AE-DACFD1DA227B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DF0488D-C718-86ED-0D8D-12DA1B12FA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4384" y="8411168"/>
            <a:ext cx="8199172" cy="9233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6125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28454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">
            <a:extLst>
              <a:ext uri="{FF2B5EF4-FFF2-40B4-BE49-F238E27FC236}">
                <a16:creationId xmlns:a16="http://schemas.microsoft.com/office/drawing/2014/main" id="{18EFE3EC-F7E1-61AB-19DD-00EC88725FB3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3282D473-65B9-422F-2640-EFCB2AC77D2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826158" y="9516543"/>
            <a:ext cx="1112812" cy="461922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62B23F3-81E1-3293-CAB0-CC44D43150D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907" y="9516058"/>
            <a:ext cx="2532280" cy="2851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8268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S - Speaker Intro Tw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9AF8C70-262A-7E6D-5B3A-61F97D8ED6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642" r="4642"/>
          <a:stretch/>
        </p:blipFill>
        <p:spPr>
          <a:xfrm>
            <a:off x="1990" y="2213910"/>
            <a:ext cx="18288000" cy="4314056"/>
          </a:xfrm>
          <a:prstGeom prst="rect">
            <a:avLst/>
          </a:prstGeom>
        </p:spPr>
      </p:pic>
      <p:sp>
        <p:nvSpPr>
          <p:cNvPr id="3" name="Footer">
            <a:extLst>
              <a:ext uri="{FF2B5EF4-FFF2-40B4-BE49-F238E27FC236}">
                <a16:creationId xmlns:a16="http://schemas.microsoft.com/office/drawing/2014/main" id="{D4DF6D35-D899-DF4E-7229-703FCF78FF8B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7" name="Picture Placeholder 11">
            <a:extLst>
              <a:ext uri="{FF2B5EF4-FFF2-40B4-BE49-F238E27FC236}">
                <a16:creationId xmlns:a16="http://schemas.microsoft.com/office/drawing/2014/main" id="{E8F1E4AE-9626-FE14-687A-73B3899DE05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48874" y="2223466"/>
            <a:ext cx="4630267" cy="4631165"/>
          </a:xfrm>
          <a:prstGeom prst="ellipse">
            <a:avLst/>
          </a:prstGeom>
          <a:solidFill>
            <a:schemeClr val="bg1">
              <a:alpha val="50000"/>
            </a:schemeClr>
          </a:solidFill>
          <a:effectLst>
            <a:outerShdw blurRad="88900" dist="63500" dir="5400000" algn="ctr" rotWithShape="0">
              <a:schemeClr val="accent4">
                <a:alpha val="40000"/>
              </a:scheme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3A820-44E0-4FDA-E74B-D70E0400B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11">
            <a:extLst>
              <a:ext uri="{FF2B5EF4-FFF2-40B4-BE49-F238E27FC236}">
                <a16:creationId xmlns:a16="http://schemas.microsoft.com/office/drawing/2014/main" id="{13AD2AD9-7C1F-ACF8-EE9A-A2456741EC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08860" y="2223466"/>
            <a:ext cx="4630267" cy="4631165"/>
          </a:xfrm>
          <a:prstGeom prst="ellipse">
            <a:avLst/>
          </a:prstGeom>
          <a:solidFill>
            <a:schemeClr val="bg1">
              <a:alpha val="50000"/>
            </a:schemeClr>
          </a:solidFill>
          <a:effectLst>
            <a:outerShdw blurRad="88900" dist="63500" dir="5400000" algn="ctr" rotWithShape="0">
              <a:schemeClr val="accent4">
                <a:alpha val="40000"/>
              </a:schemeClr>
            </a:outerShdw>
          </a:effectLst>
        </p:spPr>
        <p:txBody>
          <a:bodyPr anchor="ctr" anchorCtr="0">
            <a:normAutofit/>
          </a:bodyPr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FD28313-CB31-5A01-5334-BF299B4B70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07839" y="7226393"/>
            <a:ext cx="4712337" cy="997196"/>
          </a:xfr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INSERT SPEAKER NAME HERE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7679FA28-7F98-8C8D-4872-01F27C4AB5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07839" y="8408576"/>
            <a:ext cx="4712337" cy="387798"/>
          </a:xfr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speaker title here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5026C528-C048-4A1E-11D8-6155B0548CB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367825" y="7226393"/>
            <a:ext cx="4712337" cy="997196"/>
          </a:xfr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INSERT SPEAKER NAME HERE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EFF24594-27F4-2F84-6F21-208B66401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67825" y="8408576"/>
            <a:ext cx="4712337" cy="387798"/>
          </a:xfrm>
        </p:spPr>
        <p:txBody>
          <a:bodyPr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Insert speaker title here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B3CA5B83-7E42-F627-69D5-B9EEF7C753E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826158" y="9516543"/>
            <a:ext cx="1112812" cy="46192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B9873EFD-18B2-2676-57EC-5FBD334BA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2907" y="9516058"/>
            <a:ext cx="2532280" cy="28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10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2432" y="2400300"/>
            <a:ext cx="15773400" cy="686514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2432" y="710304"/>
            <a:ext cx="15773400" cy="775596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Add Slide Title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6D9D6F26-29E5-D918-7C7A-FA079AE21FE3}"/>
              </a:ext>
            </a:extLst>
          </p:cNvPr>
          <p:cNvSpPr txBox="1"/>
          <p:nvPr userDrawn="1"/>
        </p:nvSpPr>
        <p:spPr>
          <a:xfrm>
            <a:off x="1252432" y="9855354"/>
            <a:ext cx="5029200" cy="246221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548626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300" cap="none" spc="10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1D3296CB-2A8B-07BE-D8F1-B10A329CE9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6826158" y="9516543"/>
            <a:ext cx="1112812" cy="46192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F3641DD-D869-7C85-3308-952583C41C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242907" y="9516058"/>
            <a:ext cx="2532280" cy="285167"/>
          </a:xfrm>
          <a:prstGeom prst="rect">
            <a:avLst/>
          </a:prstGeom>
        </p:spPr>
      </p:pic>
    </p:spTree>
    <p:custDataLst>
      <p:tags r:id="rId14"/>
    </p:custDataLst>
    <p:extLst>
      <p:ext uri="{BB962C8B-B14F-4D97-AF65-F5344CB8AC3E}">
        <p14:creationId xmlns:p14="http://schemas.microsoft.com/office/powerpoint/2010/main" val="4027619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  <p:sldLayoutId id="2147483864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5600" b="1" i="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365760" indent="-365760" algn="l" defTabSz="1371600" rtl="0" eaLnBrk="1" latinLnBrk="0" hangingPunct="1">
        <a:lnSpc>
          <a:spcPct val="85000"/>
        </a:lnSpc>
        <a:spcBef>
          <a:spcPts val="1600"/>
        </a:spcBef>
        <a:buClr>
          <a:schemeClr val="accent5"/>
        </a:buClr>
        <a:buFont typeface="Anova Light" panose="020B0403020203020204" pitchFamily="34" charset="0"/>
        <a:buChar char="•"/>
        <a:defRPr sz="36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365760" algn="l" defTabSz="1371600" rtl="0" eaLnBrk="1" latinLnBrk="0" hangingPunct="1">
        <a:lnSpc>
          <a:spcPct val="85000"/>
        </a:lnSpc>
        <a:spcBef>
          <a:spcPts val="1600"/>
        </a:spcBef>
        <a:buClr>
          <a:schemeClr val="accent5"/>
        </a:buClr>
        <a:buFont typeface="Anova Light" panose="020B0403020203020204" pitchFamily="34" charset="0"/>
        <a:buChar char="–"/>
        <a:defRPr sz="2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indent="-365760" algn="l" defTabSz="1371600" rtl="0" eaLnBrk="1" latinLnBrk="0" hangingPunct="1">
        <a:lnSpc>
          <a:spcPct val="85000"/>
        </a:lnSpc>
        <a:spcBef>
          <a:spcPts val="1600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bg2"/>
          </a:solidFill>
          <a:latin typeface="+mj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bg2"/>
          </a:solidFill>
          <a:latin typeface="+mj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nova Light" panose="020B0403020203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hyperlink" Target="https://code.claude.com/docs/en/vs-code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ss.norc.org/get-the-data.html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ss.norc.org/" TargetMode="External"/><Relationship Id="rId2" Type="http://schemas.openxmlformats.org/officeDocument/2006/relationships/hyperlink" Target="https://gss.norc.org/get-the-data.html" TargetMode="Externa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ssoftware/saspy/releases" TargetMode="External"/><Relationship Id="rId2" Type="http://schemas.openxmlformats.org/officeDocument/2006/relationships/hyperlink" Target="https://support.sas.com/en/software/saspy.html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sassoftware.github.io/saspy/configuration.html#ssh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sassoftware.github.io/saspy/configuration.html#com" TargetMode="External"/><Relationship Id="rId4" Type="http://schemas.openxmlformats.org/officeDocument/2006/relationships/hyperlink" Target="https://sassoftware.github.io/saspy/configuration.html#iom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github.com/matise-joe-norc/connect-saspy/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matise-joe-norc/sas-mcp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agentskills.io/" TargetMode="Externa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ss.norc.org/" TargetMode="External"/><Relationship Id="rId2" Type="http://schemas.openxmlformats.org/officeDocument/2006/relationships/hyperlink" Target="https://gss.norc.org/get-the-data.html" TargetMode="Externa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9243-70D5-96F5-4E16-EB1F107E0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538" y="3788847"/>
            <a:ext cx="12123737" cy="2646878"/>
          </a:xfrm>
        </p:spPr>
        <p:txBody>
          <a:bodyPr/>
          <a:lstStyle/>
          <a:p>
            <a:r>
              <a:rPr lang="en-US" dirty="0"/>
              <a:t>Claude the SAS Programmer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431E6F-53E6-856E-7983-0080677A4B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2432" y="6635415"/>
            <a:ext cx="12123722" cy="923330"/>
          </a:xfrm>
        </p:spPr>
        <p:txBody>
          <a:bodyPr/>
          <a:lstStyle/>
          <a:p>
            <a:r>
              <a:rPr lang="en-US" dirty="0"/>
              <a:t>Agentic AI creates SAS 9 code before your eyes</a:t>
            </a:r>
          </a:p>
        </p:txBody>
      </p:sp>
    </p:spTree>
    <p:extLst>
      <p:ext uri="{BB962C8B-B14F-4D97-AF65-F5344CB8AC3E}">
        <p14:creationId xmlns:p14="http://schemas.microsoft.com/office/powerpoint/2010/main" val="369011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89D3835-9DB0-FFAF-FAEC-F38E65D1103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" r="17"/>
          <a:stretch>
            <a:fillRect/>
          </a:stretch>
        </p:blipFill>
        <p:spPr>
          <a:xfrm>
            <a:off x="11214887" y="1970494"/>
            <a:ext cx="4630267" cy="4631165"/>
          </a:xfrm>
          <a:prstGeom prst="ellipse">
            <a:avLst/>
          </a:prstGeom>
          <a:solidFill>
            <a:srgbClr val="FFFFFF">
              <a:alpha val="50000"/>
            </a:srgbClr>
          </a:solidFill>
          <a:effectLst>
            <a:outerShdw blurRad="88900" dist="63500" dir="5400000" algn="ctr" rotWithShape="0">
              <a:srgbClr val="032954">
                <a:alpha val="40000"/>
              </a:srgb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C103812-7A6C-D0BC-3924-95540D76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 for </a:t>
            </a:r>
            <a:r>
              <a:rPr lang="en-US" dirty="0" err="1"/>
              <a:t>Powerpoint</a:t>
            </a:r>
            <a:r>
              <a:rPr lang="en-US" dirty="0"/>
              <a:t> + Code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F5FA22-46BF-9368-03FC-36979051CF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173852" y="6973421"/>
            <a:ext cx="4712337" cy="498598"/>
          </a:xfrm>
        </p:spPr>
        <p:txBody>
          <a:bodyPr/>
          <a:lstStyle/>
          <a:p>
            <a:r>
              <a:rPr lang="en-US" dirty="0"/>
              <a:t>Joe Matise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5CD3ED5-59BB-8E70-585D-3C05CE8767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14887" y="7843781"/>
            <a:ext cx="4712337" cy="775597"/>
          </a:xfrm>
        </p:spPr>
        <p:txBody>
          <a:bodyPr/>
          <a:lstStyle/>
          <a:p>
            <a:r>
              <a:rPr lang="en-US" dirty="0"/>
              <a:t>Supervisor, Data Engineering, NORC</a:t>
            </a:r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805B8378-8AC8-28E2-EB80-A3790FB14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846" y="27622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78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1F238-05BE-1124-79CA-A18943A0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F6660-56FD-0812-F0EA-FC678979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Agenda</a:t>
            </a:r>
          </a:p>
        </p:txBody>
      </p:sp>
      <p:sp>
        <p:nvSpPr>
          <p:cNvPr id="14" name="Rectangle: Rounded Corners 4">
            <a:extLst>
              <a:ext uri="{FF2B5EF4-FFF2-40B4-BE49-F238E27FC236}">
                <a16:creationId xmlns:a16="http://schemas.microsoft.com/office/drawing/2014/main" id="{97919BA2-F17E-6DF9-2884-847B9CD63F74}"/>
              </a:ext>
            </a:extLst>
          </p:cNvPr>
          <p:cNvSpPr/>
          <p:nvPr/>
        </p:nvSpPr>
        <p:spPr>
          <a:xfrm>
            <a:off x="9249195" y="7525115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Conclusion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5431E69-CF8B-68D0-5426-B52D7D9986BD}"/>
              </a:ext>
            </a:extLst>
          </p:cNvPr>
          <p:cNvSpPr/>
          <p:nvPr/>
        </p:nvSpPr>
        <p:spPr>
          <a:xfrm>
            <a:off x="9249195" y="6218582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Prompt Engineering: Programming the Programmer</a:t>
            </a:r>
          </a:p>
        </p:txBody>
      </p:sp>
      <p:sp>
        <p:nvSpPr>
          <p:cNvPr id="16" name="Rectangle: Rounded Corners 4">
            <a:extLst>
              <a:ext uri="{FF2B5EF4-FFF2-40B4-BE49-F238E27FC236}">
                <a16:creationId xmlns:a16="http://schemas.microsoft.com/office/drawing/2014/main" id="{92BC95F9-B9C6-DE4B-DA18-D0989F8BD597}"/>
              </a:ext>
            </a:extLst>
          </p:cNvPr>
          <p:cNvSpPr/>
          <p:nvPr/>
        </p:nvSpPr>
        <p:spPr>
          <a:xfrm>
            <a:off x="9249195" y="4912050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nova Light"/>
              </a:rPr>
              <a:t>Let’s Code!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nova Light"/>
              <a:ea typeface="+mn-ea"/>
              <a:cs typeface="+mn-cs"/>
            </a:endParaRPr>
          </a:p>
        </p:txBody>
      </p:sp>
      <p:sp>
        <p:nvSpPr>
          <p:cNvPr id="17" name="Rectangle: Rounded Corners 4">
            <a:extLst>
              <a:ext uri="{FF2B5EF4-FFF2-40B4-BE49-F238E27FC236}">
                <a16:creationId xmlns:a16="http://schemas.microsoft.com/office/drawing/2014/main" id="{EAD791B2-3AE2-71CA-70BB-B24E825DB56B}"/>
              </a:ext>
            </a:extLst>
          </p:cNvPr>
          <p:cNvSpPr/>
          <p:nvPr/>
        </p:nvSpPr>
        <p:spPr>
          <a:xfrm>
            <a:off x="9249195" y="3605519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Using Agentic AI with SAS: Tools Required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9494C5-A760-DB12-D0B5-E07431C16B53}"/>
              </a:ext>
            </a:extLst>
          </p:cNvPr>
          <p:cNvSpPr/>
          <p:nvPr/>
        </p:nvSpPr>
        <p:spPr>
          <a:xfrm>
            <a:off x="8754967" y="3791631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2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3D242-39F9-6233-91E9-33874F160FAC}"/>
              </a:ext>
            </a:extLst>
          </p:cNvPr>
          <p:cNvSpPr/>
          <p:nvPr/>
        </p:nvSpPr>
        <p:spPr>
          <a:xfrm>
            <a:off x="8754967" y="5098161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4FF1126-3F73-BB6B-589A-E4BE4F6F951A}"/>
              </a:ext>
            </a:extLst>
          </p:cNvPr>
          <p:cNvSpPr/>
          <p:nvPr/>
        </p:nvSpPr>
        <p:spPr>
          <a:xfrm>
            <a:off x="8754967" y="6404691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4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22A038-18F1-3EF9-0670-E6C681AE5B6F}"/>
              </a:ext>
            </a:extLst>
          </p:cNvPr>
          <p:cNvSpPr/>
          <p:nvPr/>
        </p:nvSpPr>
        <p:spPr>
          <a:xfrm>
            <a:off x="8754967" y="7711223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5</a:t>
            </a:r>
          </a:p>
        </p:txBody>
      </p:sp>
      <p:sp>
        <p:nvSpPr>
          <p:cNvPr id="22" name="Rectangle: Rounded Corners 4">
            <a:extLst>
              <a:ext uri="{FF2B5EF4-FFF2-40B4-BE49-F238E27FC236}">
                <a16:creationId xmlns:a16="http://schemas.microsoft.com/office/drawing/2014/main" id="{B238B463-AC86-37F0-3681-FC05F52D2339}"/>
              </a:ext>
            </a:extLst>
          </p:cNvPr>
          <p:cNvSpPr/>
          <p:nvPr/>
        </p:nvSpPr>
        <p:spPr>
          <a:xfrm>
            <a:off x="9249195" y="2298989"/>
            <a:ext cx="7781504" cy="1067166"/>
          </a:xfrm>
          <a:prstGeom prst="roundRect">
            <a:avLst>
              <a:gd name="adj" fmla="val 9216"/>
            </a:avLst>
          </a:prstGeom>
          <a:gradFill flip="none" rotWithShape="1">
            <a:gsLst>
              <a:gs pos="10000">
                <a:schemeClr val="accent4">
                  <a:alpha val="10000"/>
                </a:schemeClr>
              </a:gs>
              <a:gs pos="72000">
                <a:schemeClr val="accent4">
                  <a:alpha val="5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Introduction – What is Agentic AI?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D9CB11-E752-3E19-7A55-1E6904F173B8}"/>
              </a:ext>
            </a:extLst>
          </p:cNvPr>
          <p:cNvSpPr/>
          <p:nvPr/>
        </p:nvSpPr>
        <p:spPr>
          <a:xfrm>
            <a:off x="8754967" y="2485100"/>
            <a:ext cx="694944" cy="694944"/>
          </a:xfrm>
          <a:prstGeom prst="ellipse">
            <a:avLst/>
          </a:prstGeom>
          <a:gradFill flip="none" rotWithShape="1">
            <a:gsLst>
              <a:gs pos="73000">
                <a:schemeClr val="accent2"/>
              </a:gs>
              <a:gs pos="100000">
                <a:schemeClr val="accent3">
                  <a:lumMod val="90000"/>
                </a:schemeClr>
              </a:gs>
              <a:gs pos="0">
                <a:schemeClr val="accent1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nova Light"/>
                <a:ea typeface="+mn-ea"/>
                <a:cs typeface="+mn-cs"/>
              </a:rPr>
              <a:t>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C588D-3D26-2CC3-6155-A011D804D9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303" y="4386894"/>
            <a:ext cx="4597810" cy="4597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48DD7A2-98AB-6A69-5A62-E25765ECD9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458" y="1283861"/>
            <a:ext cx="6667500" cy="33147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155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38DC2-C5F3-E704-3B70-6A59FCB4A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this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13F2B-F6E8-FE68-782C-DD8404F8E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802195"/>
            <a:ext cx="15773400" cy="6463252"/>
          </a:xfrm>
        </p:spPr>
        <p:txBody>
          <a:bodyPr>
            <a:normAutofit lnSpcReduction="10000"/>
          </a:bodyPr>
          <a:lstStyle/>
          <a:p>
            <a:r>
              <a:rPr lang="en-US" sz="4400" dirty="0"/>
              <a:t>This presentation is targeted to SAS 9.4, not SAS Viya.  See the sessions about SAS Viya MCP for more information there!</a:t>
            </a:r>
            <a:br>
              <a:rPr lang="en-US" sz="4400" dirty="0"/>
            </a:br>
            <a:endParaRPr lang="en-US" sz="4400" dirty="0"/>
          </a:p>
          <a:p>
            <a:r>
              <a:rPr lang="en-US" sz="4400" dirty="0"/>
              <a:t>Most of what I present here applies to any Agentic AI solution, but Claude Code and </a:t>
            </a:r>
            <a:r>
              <a:rPr lang="en-US" sz="4400" dirty="0" err="1"/>
              <a:t>Github</a:t>
            </a:r>
            <a:r>
              <a:rPr lang="en-US" sz="4400" dirty="0"/>
              <a:t> Copilot are the solution I tested this with and use for the examples.</a:t>
            </a:r>
            <a:br>
              <a:rPr lang="en-US" sz="4400" dirty="0"/>
            </a:br>
            <a:endParaRPr lang="en-US" sz="4400" dirty="0"/>
          </a:p>
          <a:p>
            <a:r>
              <a:rPr lang="en-US" sz="4400" dirty="0"/>
              <a:t>As with any AI solution – use this with caution and skepticism of the results.  Read the documentation for your chosen solution how to protect yourself from the Agentic AI doing dangerous things.</a:t>
            </a:r>
          </a:p>
          <a:p>
            <a:endParaRPr lang="en-US" sz="4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48D18B-A577-2D1A-D712-0AF90C088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48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22F7CF9-04AD-A373-3BCD-A8A4AFDB9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Agentic AI?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4DF6B-D9BA-443C-6E72-0C833ED260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85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FB32-0D1F-1A70-5F6E-1882DF49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Agentic AI?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F2D229-AF8F-050D-B182-D5CA94E69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3996813"/>
            <a:ext cx="15773400" cy="52686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4400" i="1" dirty="0"/>
          </a:p>
          <a:p>
            <a:r>
              <a:rPr lang="en-US" sz="4400" dirty="0"/>
              <a:t>The ability to run code independently and verify the results is a key differentiator for Agentic AI</a:t>
            </a:r>
          </a:p>
          <a:p>
            <a:endParaRPr lang="en-US" sz="4400" dirty="0"/>
          </a:p>
          <a:p>
            <a:r>
              <a:rPr lang="en-US" sz="4400" dirty="0"/>
              <a:t>In order for Agentic AI to function at its full potential, there must be a connection between the AI and SAS.</a:t>
            </a:r>
          </a:p>
          <a:p>
            <a:endParaRPr lang="en-US" sz="4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B31EB0-6E09-9F21-FE7A-0E03464C7D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20529" y="2020529"/>
            <a:ext cx="13465277" cy="1091381"/>
          </a:xfrm>
        </p:spPr>
        <p:txBody>
          <a:bodyPr>
            <a:normAutofit fontScale="92500"/>
          </a:bodyPr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Agentic AI can independently break down complex tasks, use tools, and iterate on solutions with minimal human intervention. </a:t>
            </a:r>
            <a:r>
              <a:rPr lang="en-US" sz="2400" dirty="0">
                <a:solidFill>
                  <a:schemeClr val="tx1"/>
                </a:solidFill>
              </a:rPr>
              <a:t> (Claude Sonnet 4.5)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16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05C4-F0CE-3171-12CE-5E3607057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Agentic AI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89FA0C-903B-CA4F-E733-667A5BB32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299" y="2400300"/>
            <a:ext cx="4843250" cy="686514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Claude Code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D8184E-37DF-87B6-3094-A1D677F8413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1983504" y="2400300"/>
            <a:ext cx="5047199" cy="686514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Codex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CF9DAC-5253-26F0-D949-BA8BA08150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E2DA40-BDD3-E74D-1C32-A9756BB8D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022" y="4022970"/>
            <a:ext cx="3619803" cy="36198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21B094-790E-4F0B-1EB6-E411472DB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0664" y="2825544"/>
            <a:ext cx="5692878" cy="5692878"/>
          </a:xfrm>
          <a:prstGeom prst="rect">
            <a:avLst/>
          </a:prstGeom>
        </p:spPr>
      </p:pic>
      <p:pic>
        <p:nvPicPr>
          <p:cNvPr id="3" name="Picture 2" descr="Brand Github Copilot icon - Free Download PNG &amp; SVG | Streamline">
            <a:extLst>
              <a:ext uri="{FF2B5EF4-FFF2-40B4-BE49-F238E27FC236}">
                <a16:creationId xmlns:a16="http://schemas.microsoft.com/office/drawing/2014/main" id="{4FDC1184-E847-2BFA-270B-EF346C6F5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750" y="3442706"/>
            <a:ext cx="4458554" cy="4458554"/>
          </a:xfrm>
          <a:prstGeom prst="rect">
            <a:avLst/>
          </a:prstGeom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8B4E919F-CC8C-838F-A0F2-A64A947ACE6C}"/>
              </a:ext>
            </a:extLst>
          </p:cNvPr>
          <p:cNvSpPr txBox="1">
            <a:spLocks/>
          </p:cNvSpPr>
          <p:nvPr/>
        </p:nvSpPr>
        <p:spPr>
          <a:xfrm>
            <a:off x="6620402" y="2400300"/>
            <a:ext cx="4843250" cy="686514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365760" indent="-365760" algn="l" defTabSz="1371600" rtl="0" eaLnBrk="1" latinLnBrk="0" hangingPunct="1">
              <a:lnSpc>
                <a:spcPct val="85000"/>
              </a:lnSpc>
              <a:spcBef>
                <a:spcPts val="1600"/>
              </a:spcBef>
              <a:buClr>
                <a:schemeClr val="accent5"/>
              </a:buClr>
              <a:buFont typeface="Anova Light" panose="020B0403020203020204" pitchFamily="34" charset="0"/>
              <a:buChar char="•"/>
              <a:defRPr sz="36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1520" indent="-365760" algn="l" defTabSz="1371600" rtl="0" eaLnBrk="1" latinLnBrk="0" hangingPunct="1">
              <a:lnSpc>
                <a:spcPct val="85000"/>
              </a:lnSpc>
              <a:spcBef>
                <a:spcPts val="1600"/>
              </a:spcBef>
              <a:buClr>
                <a:schemeClr val="accent5"/>
              </a:buClr>
              <a:buFont typeface="Anova Light" panose="020B0403020203020204" pitchFamily="34" charset="0"/>
              <a:buChar char="–"/>
              <a:defRPr sz="2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indent="-365760" algn="l" defTabSz="1371600" rtl="0" eaLnBrk="1" latinLnBrk="0" hangingPunct="1">
              <a:lnSpc>
                <a:spcPct val="85000"/>
              </a:lnSpc>
              <a:spcBef>
                <a:spcPts val="1600"/>
              </a:spcBef>
              <a:buClr>
                <a:schemeClr val="accent5"/>
              </a:buClr>
              <a:buFont typeface="Anova Light" panose="020B0403020203020204" pitchFamily="34" charset="0"/>
              <a:buChar char="•"/>
              <a:defRPr sz="24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00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nova Light" panose="020B0403020203020204" pitchFamily="34" charset="0"/>
              <a:buChar char="•"/>
              <a:defRPr sz="27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4pPr>
            <a:lvl5pPr marL="30861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nova Light" panose="020B0403020203020204" pitchFamily="34" charset="0"/>
              <a:buChar char="•"/>
              <a:defRPr sz="2700" kern="120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5pPr>
            <a:lvl6pPr marL="37719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nova Light" panose="020B0403020203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7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nova Light" panose="020B0403020203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5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nova Light" panose="020B0403020203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300" indent="-342900" algn="l" defTabSz="1371600" rtl="0" eaLnBrk="1" latinLnBrk="0" hangingPunct="1">
              <a:lnSpc>
                <a:spcPct val="90000"/>
              </a:lnSpc>
              <a:spcBef>
                <a:spcPts val="750"/>
              </a:spcBef>
              <a:buFont typeface="Anova Light" panose="020B0403020203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nova Light" panose="020B0403020203020204" pitchFamily="34" charset="0"/>
              <a:buNone/>
            </a:pPr>
            <a:r>
              <a:rPr lang="en-US" dirty="0" err="1"/>
              <a:t>Github</a:t>
            </a:r>
            <a:r>
              <a:rPr lang="en-US" dirty="0"/>
              <a:t> Copilot</a:t>
            </a:r>
          </a:p>
        </p:txBody>
      </p:sp>
    </p:spTree>
    <p:extLst>
      <p:ext uri="{BB962C8B-B14F-4D97-AF65-F5344CB8AC3E}">
        <p14:creationId xmlns:p14="http://schemas.microsoft.com/office/powerpoint/2010/main" val="341297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E098F-4170-DFCC-87CF-B8BE2EF8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FF89-0B45-A053-5EC2-527A63DD1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Agentic AI?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B5E2A73-6ACB-1CC9-B7AC-E35001EF3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3495369"/>
            <a:ext cx="15773400" cy="577007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i="1" dirty="0"/>
          </a:p>
          <a:p>
            <a:r>
              <a:rPr lang="en-US" dirty="0"/>
              <a:t>Agentic AI does not replace the programmer – it changes the relationship with the code.</a:t>
            </a:r>
          </a:p>
          <a:p>
            <a:r>
              <a:rPr lang="en-US" dirty="0"/>
              <a:t>Agentic AI is a tool that can increase productivity when used properly</a:t>
            </a:r>
          </a:p>
          <a:p>
            <a:r>
              <a:rPr lang="en-US" dirty="0"/>
              <a:t>Guiding the AI to produce code that gives good results is not an easy task!</a:t>
            </a:r>
          </a:p>
          <a:p>
            <a:r>
              <a:rPr lang="en-US" dirty="0"/>
              <a:t>When used with good tests and well-developed prompts, Agentic AI can reduce the time to deliver results significantly.</a:t>
            </a:r>
          </a:p>
          <a:p>
            <a:r>
              <a:rPr lang="en-US" dirty="0"/>
              <a:t>Also strongly consider this for data exploration – similar to how Visual Analytics is often used.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7F43F-0152-77D7-4D89-52CDCA3F3B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4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975F3-B7E3-0B5A-C00B-DFAA3A031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F5082E-39E5-99CF-30FB-2E4F9420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432" y="3850838"/>
            <a:ext cx="12123722" cy="1292662"/>
          </a:xfrm>
        </p:spPr>
        <p:txBody>
          <a:bodyPr/>
          <a:lstStyle/>
          <a:p>
            <a:r>
              <a:rPr lang="en-US" dirty="0"/>
              <a:t>Tools for using Agentic AI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F38C1-00CA-D610-ABAA-518C8A9EC6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EFA9B-1656-1E41-43F7-B8E7C5156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084A-DE37-722A-9259-F320A47D9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</a:t>
            </a:r>
          </a:p>
          <a:p>
            <a:pPr lvl="1"/>
            <a:r>
              <a:rPr lang="en-US" dirty="0"/>
              <a:t>How do you interact with the Agentic AI?</a:t>
            </a:r>
          </a:p>
          <a:p>
            <a:pPr lvl="1"/>
            <a:endParaRPr lang="en-US" dirty="0"/>
          </a:p>
          <a:p>
            <a:r>
              <a:rPr lang="en-US" dirty="0"/>
              <a:t>The Agentic AI solution</a:t>
            </a:r>
          </a:p>
          <a:p>
            <a:pPr lvl="1"/>
            <a:r>
              <a:rPr lang="en-US" dirty="0"/>
              <a:t>This depends on your interface</a:t>
            </a:r>
          </a:p>
          <a:p>
            <a:pPr lvl="1"/>
            <a:r>
              <a:rPr lang="en-US" dirty="0"/>
              <a:t>Follow the interface-specific configuration steps</a:t>
            </a:r>
          </a:p>
          <a:p>
            <a:pPr lvl="1"/>
            <a:endParaRPr lang="en-US" dirty="0"/>
          </a:p>
          <a:p>
            <a:r>
              <a:rPr lang="en-US" dirty="0"/>
              <a:t>Method of connecting to SAS</a:t>
            </a:r>
          </a:p>
          <a:p>
            <a:pPr lvl="1"/>
            <a:r>
              <a:rPr lang="en-US" dirty="0"/>
              <a:t>How does the Agentic AI submit SAS code?</a:t>
            </a:r>
          </a:p>
          <a:p>
            <a:pPr lvl="1"/>
            <a:r>
              <a:rPr lang="en-US" dirty="0"/>
              <a:t>How does the Agentic AI read the results of the SAS code?</a:t>
            </a:r>
          </a:p>
          <a:p>
            <a:pPr lvl="1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E52524-E013-F7C7-2BE3-C36F7193A1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Requirements</a:t>
            </a:r>
          </a:p>
        </p:txBody>
      </p:sp>
    </p:spTree>
    <p:extLst>
      <p:ext uri="{BB962C8B-B14F-4D97-AF65-F5344CB8AC3E}">
        <p14:creationId xmlns:p14="http://schemas.microsoft.com/office/powerpoint/2010/main" val="1679740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EEB52-B9EC-5771-0E20-4D70B286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E7BD4C-F752-5AAC-82F1-6CB705CDF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3495369"/>
            <a:ext cx="15773400" cy="57700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i="1" dirty="0"/>
              <a:t>Options for Agentic AI</a:t>
            </a:r>
          </a:p>
          <a:p>
            <a:r>
              <a:rPr lang="en-US" dirty="0"/>
              <a:t>Standalone (command line/terminal)</a:t>
            </a:r>
          </a:p>
          <a:p>
            <a:r>
              <a:rPr lang="en-US" dirty="0"/>
              <a:t>Component to IDE like VS Code</a:t>
            </a:r>
          </a:p>
          <a:p>
            <a:r>
              <a:rPr lang="en-US" dirty="0"/>
              <a:t>Chat-like interface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Recommendation: VS Code Extension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https://code.visualstudio.com/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hlinkClick r:id="rId4"/>
              </a:rPr>
              <a:t>https://code.claude.com/docs/en/vs-code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B68F3-0878-7ECE-D6E8-C4C918AB45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Interface Options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3D08C-C5B9-7102-202C-2E0B15A59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98A348-DE5A-4CD0-1BA0-FDC40C7305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700" y="2890069"/>
            <a:ext cx="7130434" cy="450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36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0E3FB-DA17-8E2C-657B-D919CE33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1927C4-142E-85B4-A408-6D0904E78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Code!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06C93D-ED52-B8FF-8F14-9FF05D4A5F8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Live demos with AI never go wrong… </a:t>
            </a:r>
          </a:p>
        </p:txBody>
      </p:sp>
    </p:spTree>
    <p:extLst>
      <p:ext uri="{BB962C8B-B14F-4D97-AF65-F5344CB8AC3E}">
        <p14:creationId xmlns:p14="http://schemas.microsoft.com/office/powerpoint/2010/main" val="10920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D9698-1414-B456-F9CC-8F88EC086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BA73E-38A4-78A8-E190-0ADD27DDC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https://gss.norc.org/get-the-data.html</a:t>
            </a:r>
            <a:r>
              <a:rPr lang="en-US" dirty="0"/>
              <a:t> </a:t>
            </a:r>
          </a:p>
          <a:p>
            <a:r>
              <a:rPr lang="en-US" dirty="0"/>
              <a:t>General Social Survey – 50+ years of data of Americans’ habits, demographics, and more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CE201E-043C-4EFE-D6B9-7A717BFDB5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40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01D71A-88C2-53EE-24BD-F3EC276D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Prompt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6D13F36-4F31-4B54-8F32-33BBD57BF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00300"/>
            <a:ext cx="15773400" cy="68659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Using data from </a:t>
            </a:r>
            <a:r>
              <a:rPr lang="en-US" dirty="0">
                <a:hlinkClick r:id="rId2"/>
              </a:rPr>
              <a:t>https://gss.norc.org/get-the-data.html</a:t>
            </a:r>
            <a:r>
              <a:rPr lang="en-US" dirty="0"/>
              <a:t> , please analyze the differences between [something] in 2022 and 2024.  Compare across gender and age groups separately and together.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Produce an excel file with the outputs of the analysis.  The excel file should have different tabs for each grouping (age, gender, age*gender) and also separate tabs for graphical comparisons.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Aim for a general public level of analysis.  Include a readme that explains the file.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ODS Graphics to produce charts that illustrate the comparisons.  Use the color palette and style from </a:t>
            </a:r>
            <a:r>
              <a:rPr lang="en-US" dirty="0">
                <a:hlinkClick r:id="rId3"/>
              </a:rPr>
              <a:t>https://gss.norc.org/</a:t>
            </a:r>
            <a:r>
              <a:rPr lang="en-US" dirty="0"/>
              <a:t> 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74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05C5B-1739-65EB-9F35-BDC120001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B1EC93-8492-E1CA-4DE8-76D0B8BD4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432" y="2742843"/>
            <a:ext cx="12123722" cy="2400657"/>
          </a:xfrm>
        </p:spPr>
        <p:txBody>
          <a:bodyPr/>
          <a:lstStyle/>
          <a:p>
            <a:r>
              <a:rPr lang="en-US" dirty="0"/>
              <a:t>Tools for using SAS with Agentic AI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53DC3-7049-7BDC-8753-189DFD4E56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84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23596-BD94-CBE8-9CCE-4EFEE21AD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 with SAS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2B42D-F182-0A24-25E3-51407697F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/>
              <a:t>Options for submitting SAS code</a:t>
            </a:r>
          </a:p>
          <a:p>
            <a:r>
              <a:rPr lang="en-US" dirty="0"/>
              <a:t>Direct SAS connection via batch submission at the command line</a:t>
            </a:r>
          </a:p>
          <a:p>
            <a:r>
              <a:rPr lang="en-US" dirty="0" err="1"/>
              <a:t>SASPy</a:t>
            </a:r>
            <a:r>
              <a:rPr lang="en-US" dirty="0"/>
              <a:t> – via Python</a:t>
            </a:r>
          </a:p>
          <a:p>
            <a:r>
              <a:rPr lang="en-US" i="1" dirty="0"/>
              <a:t>SAS Viya has API options available as well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Recommendation: </a:t>
            </a:r>
            <a:r>
              <a:rPr lang="en-US" dirty="0" err="1"/>
              <a:t>SASPy</a:t>
            </a:r>
            <a:r>
              <a:rPr lang="en-US" dirty="0"/>
              <a:t>; most flexible and best parsing of results.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D9F4F-162D-E242-277E-D651FDB49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Backend Options for submitting SAS Code</a:t>
            </a:r>
          </a:p>
        </p:txBody>
      </p:sp>
    </p:spTree>
    <p:extLst>
      <p:ext uri="{BB962C8B-B14F-4D97-AF65-F5344CB8AC3E}">
        <p14:creationId xmlns:p14="http://schemas.microsoft.com/office/powerpoint/2010/main" val="2252152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607A2-C640-138B-1CEA-740D487FE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A4C3F-B0C9-8BA4-352F-C33A21FD4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 dirty="0" err="1"/>
              <a:t>SASPy</a:t>
            </a:r>
            <a:r>
              <a:rPr lang="en-US" i="1" dirty="0"/>
              <a:t> is an open source Python package that allows Python coders to access SAS data and analytics capabilities. Add </a:t>
            </a:r>
            <a:r>
              <a:rPr lang="en-US" i="1" dirty="0" err="1"/>
              <a:t>SASPy</a:t>
            </a:r>
            <a:r>
              <a:rPr lang="en-US" i="1" dirty="0"/>
              <a:t> to your Python environment, configure it to connect to your SAS environment, and begin using Python to access SAS.</a:t>
            </a:r>
          </a:p>
          <a:p>
            <a:pPr marL="0" indent="0">
              <a:buNone/>
            </a:pPr>
            <a:endParaRPr lang="en-US" i="1" dirty="0"/>
          </a:p>
          <a:p>
            <a:r>
              <a:rPr lang="en-US" dirty="0">
                <a:hlinkClick r:id="rId2"/>
              </a:rPr>
              <a:t>https://support.sas.com/en/software/saspy.html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https://github.com/sassoftware/saspy/releases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268C5-3F48-5CF6-FEFC-739477458A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SASPy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9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0321-DFEE-626D-ED9B-3FB313EA8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1B4FF-CEED-6A7A-D961-601EFF3D1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59D1DC-4ED6-4F95-0BC2-2948BCB3A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Option 1: SSH  - </a:t>
            </a:r>
            <a:r>
              <a:rPr lang="en-US" dirty="0">
                <a:hlinkClick r:id="rId3"/>
              </a:rPr>
              <a:t>https://sassoftware.github.io/saspy/configuration.html#ssh</a:t>
            </a:r>
            <a:endParaRPr lang="en-US" dirty="0"/>
          </a:p>
          <a:p>
            <a:pPr lvl="1"/>
            <a:r>
              <a:rPr lang="en-US" dirty="0"/>
              <a:t>This is the common terminal connection, which allows SSH-based connectivity and works with both Linux and Windows servers. Works best with simple configurations.</a:t>
            </a:r>
          </a:p>
          <a:p>
            <a:r>
              <a:rPr lang="en-US" dirty="0"/>
              <a:t>Option 2: IOM - </a:t>
            </a:r>
            <a:r>
              <a:rPr lang="en-US" dirty="0">
                <a:hlinkClick r:id="rId4"/>
              </a:rPr>
              <a:t>https://sassoftware.github.io/saspy/configuration.html#iom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is useful for more complex configurations, including Grid. </a:t>
            </a:r>
          </a:p>
          <a:p>
            <a:pPr lvl="1"/>
            <a:r>
              <a:rPr lang="en-US" dirty="0"/>
              <a:t>Requires Java </a:t>
            </a:r>
          </a:p>
          <a:p>
            <a:r>
              <a:rPr lang="en-US" dirty="0"/>
              <a:t>Option 3: COM – </a:t>
            </a:r>
            <a:r>
              <a:rPr lang="en-US" dirty="0">
                <a:hlinkClick r:id="rId5"/>
              </a:rPr>
              <a:t>https://sassoftware.github.io/saspy/configuration.html#com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This only works for Windows clients, but avoids using Java!</a:t>
            </a:r>
          </a:p>
          <a:p>
            <a:r>
              <a:rPr lang="en-US" dirty="0"/>
              <a:t>For all options, determine how you will connect – type in password interactively, use .</a:t>
            </a:r>
            <a:r>
              <a:rPr lang="en-US" dirty="0" err="1"/>
              <a:t>authinfo</a:t>
            </a:r>
            <a:r>
              <a:rPr lang="en-US" dirty="0"/>
              <a:t>/_</a:t>
            </a:r>
            <a:r>
              <a:rPr lang="en-US" dirty="0" err="1"/>
              <a:t>authinfo</a:t>
            </a:r>
            <a:r>
              <a:rPr lang="en-US" dirty="0"/>
              <a:t>, or other options.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D3A26-B15A-E4CC-3BAC-1185758653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Configuring </a:t>
            </a:r>
            <a:r>
              <a:rPr lang="en-US" dirty="0" err="1"/>
              <a:t>SASPy</a:t>
            </a:r>
            <a:r>
              <a:rPr lang="en-US" dirty="0"/>
              <a:t> for SAS Server connections</a:t>
            </a:r>
          </a:p>
        </p:txBody>
      </p:sp>
    </p:spTree>
    <p:extLst>
      <p:ext uri="{BB962C8B-B14F-4D97-AF65-F5344CB8AC3E}">
        <p14:creationId xmlns:p14="http://schemas.microsoft.com/office/powerpoint/2010/main" val="141308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2926C-0C03-B92B-EBE9-B5D67606E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356CF-4835-59F0-D12E-C5D12FB0C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00300"/>
            <a:ext cx="7212932" cy="6865146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https://github.com/matise-joe-norc/connect-saspy/</a:t>
            </a:r>
            <a:endParaRPr lang="en-US" dirty="0"/>
          </a:p>
          <a:p>
            <a:r>
              <a:rPr lang="en-US" dirty="0"/>
              <a:t>Useful Python code for helping the Agentic AI easily connect to </a:t>
            </a:r>
            <a:r>
              <a:rPr lang="en-US" dirty="0" err="1"/>
              <a:t>SASPy</a:t>
            </a:r>
            <a:endParaRPr lang="en-US" dirty="0"/>
          </a:p>
          <a:p>
            <a:r>
              <a:rPr lang="en-US" dirty="0"/>
              <a:t>Allows submitting code with a single Python method call (after connection is established)</a:t>
            </a:r>
          </a:p>
          <a:p>
            <a:r>
              <a:rPr lang="en-US" dirty="0"/>
              <a:t>Contains many comments that will improve the ability of Agentic AI to utilize the class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87D42-9A0F-57D1-4818-D244136A55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SASPy</a:t>
            </a:r>
            <a:r>
              <a:rPr lang="en-US" dirty="0"/>
              <a:t> Connection Wrapper</a:t>
            </a:r>
          </a:p>
        </p:txBody>
      </p:sp>
      <p:pic>
        <p:nvPicPr>
          <p:cNvPr id="5" name="Picture 2" descr="QR Code Image">
            <a:extLst>
              <a:ext uri="{FF2B5EF4-FFF2-40B4-BE49-F238E27FC236}">
                <a16:creationId xmlns:a16="http://schemas.microsoft.com/office/drawing/2014/main" id="{9B787EA3-DDBF-866B-AD45-69F8EEBD0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3" y="2187682"/>
            <a:ext cx="5374912" cy="537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57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6CB9E-E64A-5773-66FD-6265F555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connect_saspy.py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466E1A-3CE2-D477-9F5B-993B1DDE82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wrapper that makes it work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55F4975-90E9-64E0-7EE5-A9EB17579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Methods:</a:t>
            </a:r>
          </a:p>
          <a:p>
            <a:r>
              <a:rPr lang="en-US" dirty="0"/>
              <a:t>_</a:t>
            </a:r>
            <a:r>
              <a:rPr lang="en-US" dirty="0" err="1"/>
              <a:t>start_connection</a:t>
            </a:r>
            <a:r>
              <a:rPr lang="en-US" dirty="0"/>
              <a:t>(): internal method to initiate the </a:t>
            </a:r>
            <a:r>
              <a:rPr lang="en-US" dirty="0" err="1"/>
              <a:t>SASPy</a:t>
            </a:r>
            <a:r>
              <a:rPr lang="en-US" dirty="0"/>
              <a:t> connection</a:t>
            </a:r>
          </a:p>
          <a:p>
            <a:r>
              <a:rPr lang="en-US" dirty="0"/>
              <a:t>_</a:t>
            </a:r>
            <a:r>
              <a:rPr lang="en-US" dirty="0" err="1"/>
              <a:t>test_connection</a:t>
            </a:r>
            <a:r>
              <a:rPr lang="en-US" dirty="0"/>
              <a:t>(): internal method to validate the </a:t>
            </a:r>
            <a:r>
              <a:rPr lang="en-US" dirty="0" err="1"/>
              <a:t>SASPy</a:t>
            </a:r>
            <a:r>
              <a:rPr lang="en-US" dirty="0"/>
              <a:t> connection</a:t>
            </a:r>
          </a:p>
          <a:p>
            <a:r>
              <a:rPr lang="en-US" dirty="0"/>
              <a:t>submit(code): Submits SAS code (as text) to </a:t>
            </a:r>
            <a:r>
              <a:rPr lang="en-US" dirty="0" err="1"/>
              <a:t>SASPy</a:t>
            </a:r>
            <a:r>
              <a:rPr lang="en-US" dirty="0"/>
              <a:t>.  Starts a connection if none exists.</a:t>
            </a:r>
          </a:p>
          <a:p>
            <a:r>
              <a:rPr lang="en-US" dirty="0" err="1"/>
              <a:t>close_connection</a:t>
            </a:r>
            <a:r>
              <a:rPr lang="en-US" dirty="0"/>
              <a:t>(): Closes the </a:t>
            </a:r>
            <a:r>
              <a:rPr lang="en-US" dirty="0" err="1"/>
              <a:t>SASPy</a:t>
            </a:r>
            <a:r>
              <a:rPr lang="en-US" dirty="0"/>
              <a:t> connection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Automatically initiates a connection to </a:t>
            </a:r>
            <a:r>
              <a:rPr lang="en-US" dirty="0" err="1"/>
              <a:t>SASPy</a:t>
            </a:r>
            <a:r>
              <a:rPr lang="en-US" dirty="0"/>
              <a:t> – no action needed by the AI!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4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CF0A2-6695-5C70-F99C-3754F496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SASPy</a:t>
            </a:r>
            <a:r>
              <a:rPr lang="en-US" dirty="0"/>
              <a:t>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28DD1-40E4-9E84-A1A5-C9E2AD788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an SSH Key or </a:t>
            </a:r>
            <a:r>
              <a:rPr lang="en-US" dirty="0" err="1"/>
              <a:t>Authinfo</a:t>
            </a:r>
            <a:r>
              <a:rPr lang="en-US" dirty="0"/>
              <a:t> file so the connection is automatic with no user intervention needed</a:t>
            </a:r>
          </a:p>
          <a:p>
            <a:r>
              <a:rPr lang="en-US" dirty="0"/>
              <a:t>Keep the connect_saspy.py and example_usage.py in the folder you are working with, or in a related folder in the context window</a:t>
            </a:r>
          </a:p>
          <a:p>
            <a:r>
              <a:rPr lang="en-US" dirty="0"/>
              <a:t>Make sure </a:t>
            </a:r>
            <a:r>
              <a:rPr lang="en-US" dirty="0" err="1"/>
              <a:t>saspy</a:t>
            </a:r>
            <a:r>
              <a:rPr lang="en-US" dirty="0"/>
              <a:t> is in your requirements.txt file</a:t>
            </a:r>
          </a:p>
          <a:p>
            <a:r>
              <a:rPr lang="en-US" dirty="0"/>
              <a:t>Test using </a:t>
            </a:r>
            <a:r>
              <a:rPr lang="en-US" dirty="0" err="1"/>
              <a:t>connect_saspy</a:t>
            </a:r>
            <a:r>
              <a:rPr lang="en-US" dirty="0"/>
              <a:t> yourself before using it with the AI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3A7FA4-81DF-6240-2511-B5969B0D1E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9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6176-1D23-4308-4A4E-FA6B6BD26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1B60-EF3B-C762-6813-31C0E724F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44B7A-16EC-24BB-6604-C74AD2436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7300" y="2400300"/>
            <a:ext cx="10036507" cy="6865146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https://github.com/matise-joe-norc/sas-mcp</a:t>
            </a:r>
            <a:r>
              <a:rPr lang="en-US" dirty="0"/>
              <a:t> </a:t>
            </a:r>
          </a:p>
          <a:p>
            <a:r>
              <a:rPr lang="en-US" dirty="0"/>
              <a:t>MCP that enables Agents to connect to SAS via a tool</a:t>
            </a:r>
          </a:p>
          <a:p>
            <a:r>
              <a:rPr lang="en-US" dirty="0"/>
              <a:t>Uses </a:t>
            </a:r>
            <a:r>
              <a:rPr lang="en-US" dirty="0" err="1"/>
              <a:t>SASpy</a:t>
            </a:r>
            <a:r>
              <a:rPr lang="en-US" dirty="0"/>
              <a:t> backend</a:t>
            </a:r>
          </a:p>
          <a:p>
            <a:r>
              <a:rPr lang="en-US" dirty="0"/>
              <a:t>Contains specific methods for common actions</a:t>
            </a:r>
          </a:p>
          <a:p>
            <a:r>
              <a:rPr lang="en-US" dirty="0"/>
              <a:t>Limits agents </a:t>
            </a:r>
            <a:r>
              <a:rPr lang="en-US" i="1" dirty="0"/>
              <a:t>by default </a:t>
            </a:r>
            <a:r>
              <a:rPr lang="en-US" dirty="0"/>
              <a:t>to WORK to avoid dangerous writes</a:t>
            </a:r>
          </a:p>
          <a:p>
            <a:r>
              <a:rPr lang="en-US" dirty="0"/>
              <a:t>Install via `pip install </a:t>
            </a:r>
            <a:r>
              <a:rPr lang="en-US" dirty="0" err="1"/>
              <a:t>sas-mcp</a:t>
            </a:r>
            <a:r>
              <a:rPr lang="en-US" dirty="0"/>
              <a:t>` or `</a:t>
            </a:r>
            <a:r>
              <a:rPr lang="en-US" dirty="0" err="1"/>
              <a:t>uv</a:t>
            </a:r>
            <a:r>
              <a:rPr lang="en-US" dirty="0"/>
              <a:t> tool install </a:t>
            </a:r>
            <a:r>
              <a:rPr lang="en-US" dirty="0" err="1"/>
              <a:t>sas-mcp</a:t>
            </a:r>
            <a:r>
              <a:rPr lang="en-US" dirty="0"/>
              <a:t>`</a:t>
            </a:r>
          </a:p>
          <a:p>
            <a:r>
              <a:rPr lang="en-US" dirty="0"/>
              <a:t>MCP will automatically set up </a:t>
            </a:r>
            <a:r>
              <a:rPr lang="en-US" dirty="0" err="1"/>
              <a:t>authinfo</a:t>
            </a:r>
            <a:r>
              <a:rPr lang="en-US" dirty="0"/>
              <a:t> and </a:t>
            </a:r>
            <a:r>
              <a:rPr lang="en-US" dirty="0" err="1"/>
              <a:t>saspy</a:t>
            </a:r>
            <a:r>
              <a:rPr lang="en-US" dirty="0"/>
              <a:t> configuration through a wizard (`</a:t>
            </a:r>
            <a:r>
              <a:rPr lang="en-US" dirty="0" err="1"/>
              <a:t>sas-mcp</a:t>
            </a:r>
            <a:r>
              <a:rPr lang="en-US" dirty="0"/>
              <a:t> </a:t>
            </a:r>
            <a:r>
              <a:rPr lang="en-US" dirty="0" err="1"/>
              <a:t>init</a:t>
            </a:r>
            <a:r>
              <a:rPr lang="en-US" dirty="0"/>
              <a:t>`)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BBEF00-38E2-E1D3-5CA2-4A87DBB3D2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sas-mcp</a:t>
            </a:r>
            <a:r>
              <a:rPr lang="en-US" dirty="0"/>
              <a:t> Model Context Protocol</a:t>
            </a:r>
          </a:p>
        </p:txBody>
      </p:sp>
      <p:pic>
        <p:nvPicPr>
          <p:cNvPr id="5" name="Picture 4" descr="QR Code Image">
            <a:extLst>
              <a:ext uri="{FF2B5EF4-FFF2-40B4-BE49-F238E27FC236}">
                <a16:creationId xmlns:a16="http://schemas.microsoft.com/office/drawing/2014/main" id="{CD4F7D4B-D052-C6C2-F9A8-E813B4807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3807" y="2762250"/>
            <a:ext cx="47625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04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3CF6C-9F5B-BCA9-A668-7F7F3FD8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B8D4-8053-8ACC-BFCC-CC3D93C7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for using Agentic AI	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B759C-E739-0AFB-C7C3-AC26F2F6EB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MCP, Skill, Prompt – what is the difference?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025079A-6A0A-5AD9-B4C1-C38C733B7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2918016"/>
              </p:ext>
            </p:extLst>
          </p:nvPr>
        </p:nvGraphicFramePr>
        <p:xfrm>
          <a:off x="2415652" y="2187682"/>
          <a:ext cx="13716001" cy="7019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127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7A7DE-218B-AFFD-EFD3-18B90A0C1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88A4F2-D91C-220C-8EDF-26DF9D4ED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 Tips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3F5F-4D15-B9F5-54B8-53BD56C494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Programming the (AI) Programmer…</a:t>
            </a:r>
          </a:p>
        </p:txBody>
      </p:sp>
    </p:spTree>
    <p:extLst>
      <p:ext uri="{BB962C8B-B14F-4D97-AF65-F5344CB8AC3E}">
        <p14:creationId xmlns:p14="http://schemas.microsoft.com/office/powerpoint/2010/main" val="270486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F7C992-0ADE-3381-5A54-2B6DF0A14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Skills – Helping the agent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A8E40BC-4398-9F71-22E5-5C4075573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Skills are small files that help the agent do specific tasks</a:t>
            </a:r>
          </a:p>
          <a:p>
            <a:r>
              <a:rPr lang="en-US" dirty="0"/>
              <a:t>Skills can tell the agent to follow style guidelines, show it how to write certain kinds of programs, help it properly use tools, and more</a:t>
            </a:r>
          </a:p>
          <a:p>
            <a:r>
              <a:rPr lang="en-US" dirty="0"/>
              <a:t>Skills should be fairly short, and focused on a particular kind of task – agents having to read long skills will consume more tokens</a:t>
            </a:r>
          </a:p>
          <a:p>
            <a:r>
              <a:rPr lang="en-US" dirty="0"/>
              <a:t>Best practice: build a skill *after* doing a task with an agent one or more times</a:t>
            </a:r>
          </a:p>
          <a:p>
            <a:pPr lvl="1"/>
            <a:r>
              <a:rPr lang="en-US" dirty="0"/>
              <a:t>Include what corrections you made, what things worked well, and what context was provided</a:t>
            </a:r>
          </a:p>
          <a:p>
            <a:pPr lvl="1"/>
            <a:r>
              <a:rPr lang="en-US" dirty="0"/>
              <a:t>Consider asking the agent to create a skill after a successful session!</a:t>
            </a:r>
          </a:p>
          <a:p>
            <a:pPr lvl="1"/>
            <a:r>
              <a:rPr lang="en-US" dirty="0"/>
              <a:t>Limit text in the skill to just what is needed – don’t include things the agent already knows</a:t>
            </a:r>
          </a:p>
          <a:p>
            <a:r>
              <a:rPr lang="en-US" dirty="0">
                <a:hlinkClick r:id="rId2"/>
              </a:rPr>
              <a:t>https://agentskills.io</a:t>
            </a:r>
            <a:r>
              <a:rPr lang="en-US" dirty="0"/>
              <a:t> includes specifications and tips!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43AC19-DBC4-FB29-E378-7DBB3C98EB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93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8A71A-447A-CE77-D323-75084A510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5D4F4D-7A7B-92B5-BFF2-0FB01412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432" y="710304"/>
            <a:ext cx="15773400" cy="775596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Skill Example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7EC359E-00E0-ABD7-3342-6A7BD797EEF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2080952" y="1676400"/>
            <a:ext cx="14116359" cy="65288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3161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580331-48AB-FDFA-A76D-F59D3739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Requirements-driven development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07FCD-3E48-3005-CA39-7183846E8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larger projects, this can be a powerful method of developing!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Requirements file describes the data, the request, and the format of the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Improves consistency of outputs</a:t>
            </a:r>
          </a:p>
          <a:p>
            <a:pPr marL="708660" lvl="1" indent="-342900">
              <a:buFont typeface="Arial" panose="020B0604020202020204" pitchFamily="34" charset="0"/>
              <a:buChar char="•"/>
            </a:pPr>
            <a:r>
              <a:rPr lang="en-US" dirty="0"/>
              <a:t>Traceability: you can see what was asked</a:t>
            </a:r>
          </a:p>
          <a:p>
            <a:pPr marL="708660" lvl="1" indent="-342900">
              <a:buFont typeface="Arial" panose="020B0604020202020204" pitchFamily="34" charset="0"/>
              <a:buChar char="•"/>
            </a:pPr>
            <a:r>
              <a:rPr lang="en-US" dirty="0"/>
              <a:t>Efficiency: you can agree on what is needed</a:t>
            </a:r>
          </a:p>
          <a:p>
            <a:pPr marL="708660" lvl="1" indent="-342900">
              <a:buFont typeface="Arial" panose="020B0604020202020204" pitchFamily="34" charset="0"/>
              <a:buChar char="•"/>
            </a:pPr>
            <a:r>
              <a:rPr lang="en-US" dirty="0"/>
              <a:t>Verification: you can confirm what is done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Agent can update requirements for you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Later changes in ‘feature_1.md’ ‘feature_2.md’ </a:t>
            </a:r>
            <a:r>
              <a:rPr lang="en-US" dirty="0" err="1"/>
              <a:t>etc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8D5DD7-121E-39E2-A020-EB8DD5E4E3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220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4381-1B69-EDF1-B8A5-AC4F9204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Requirements.txt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720324-AF01-8804-D90F-2BC69F93F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---</a:t>
            </a:r>
          </a:p>
          <a:p>
            <a:pPr marL="0" indent="0">
              <a:buNone/>
            </a:pPr>
            <a:r>
              <a:rPr lang="en-US" dirty="0"/>
              <a:t>Requirements</a:t>
            </a:r>
          </a:p>
          <a:p>
            <a:pPr marL="0" indent="0">
              <a:buNone/>
            </a:pPr>
            <a:r>
              <a:rPr lang="en-US" dirty="0"/>
              <a:t>name: </a:t>
            </a:r>
            <a:r>
              <a:rPr lang="en-US" dirty="0" err="1"/>
              <a:t>gss</a:t>
            </a:r>
            <a:r>
              <a:rPr lang="en-US" dirty="0"/>
              <a:t>-example</a:t>
            </a:r>
          </a:p>
          <a:p>
            <a:pPr marL="0" indent="0">
              <a:buNone/>
            </a:pPr>
            <a:r>
              <a:rPr lang="en-US" dirty="0"/>
              <a:t>description: Analyzing [something] in the GSS data across the years 2022-2024 for WUSS audience</a:t>
            </a:r>
          </a:p>
          <a:p>
            <a:pPr marL="0" indent="0">
              <a:buNone/>
            </a:pPr>
            <a:r>
              <a:rPr lang="en-US" dirty="0"/>
              <a:t>---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Data</a:t>
            </a:r>
          </a:p>
          <a:p>
            <a:pPr marL="0" indent="0">
              <a:buNone/>
            </a:pPr>
            <a:r>
              <a:rPr lang="en-US" dirty="0"/>
              <a:t>Data source: </a:t>
            </a:r>
            <a:r>
              <a:rPr lang="en-US" dirty="0">
                <a:hlinkClick r:id="rId2"/>
              </a:rPr>
              <a:t>https://gss.norc.org/get-the-data.html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Pull data for 2022 and 2024 years.  Filter to the variables related to age, gender, respondent ID, and [something], plus the weights.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Analysis</a:t>
            </a:r>
          </a:p>
          <a:p>
            <a:pPr marL="0" indent="0">
              <a:buNone/>
            </a:pPr>
            <a:r>
              <a:rPr lang="en-US" dirty="0"/>
              <a:t>Analyze [something] between years 2022 and 2024, at the overall level as well as at the age, gender, and age*gender crosses.  Use weights in the analysis, in PROC SURVEYFREQ or PROC SURVEYMEANS.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# Report</a:t>
            </a:r>
          </a:p>
          <a:p>
            <a:pPr marL="0" indent="0">
              <a:buNone/>
            </a:pPr>
            <a:r>
              <a:rPr lang="en-US" dirty="0"/>
              <a:t>Produce an excel file with the outputs of the analysis.  The excel file should have different tabs for each grouping (age, gender, age*gender) and also separate tabs for graphical comparisons.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Aim for a general public level of analysis.  Include a readme that explains the file.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Use ODS Graphics to produce charts that illustrate the comparisons.  Use the color palette and style from </a:t>
            </a:r>
            <a:r>
              <a:rPr lang="en-US" dirty="0">
                <a:hlinkClick r:id="rId3"/>
              </a:rPr>
              <a:t>https://gss.norc.org/</a:t>
            </a:r>
            <a:r>
              <a:rPr lang="en-US" dirty="0"/>
              <a:t> 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83E65-8EDA-4E65-4ABC-F005F00109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6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2B365-6880-53FB-0422-D78F5FDEB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Prompt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F13D8-8FD6-0F62-5226-B4F51562E8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Treat the agent like a junior programmer – give really specific detailed instructions</a:t>
            </a:r>
          </a:p>
          <a:p>
            <a:r>
              <a:rPr lang="en-US" dirty="0"/>
              <a:t>High information density is good – but keep it readable so future-you can understand</a:t>
            </a:r>
          </a:p>
          <a:p>
            <a:r>
              <a:rPr lang="en-US" dirty="0"/>
              <a:t>Include what to avoid and what to require</a:t>
            </a:r>
          </a:p>
          <a:p>
            <a:r>
              <a:rPr lang="en-US" dirty="0"/>
              <a:t>Identifying comparable programs or processes can save time</a:t>
            </a:r>
          </a:p>
          <a:p>
            <a:r>
              <a:rPr lang="en-US" dirty="0"/>
              <a:t>Even if you don’t use a requirements style organizational structure, writing longer prompts in text files can simplify things and avoid lost time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06250-68B5-18C1-EE62-A25625635F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7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3024E-130A-A631-08DA-3A2A6765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CC4CC4D-8A7A-4C92-B5A0-FFE311B0C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6C4B07-0A61-E978-E5F8-45BD8351AA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6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B4208-0C64-5A1E-6411-43FD1AFE4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6812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1_NDA" val="5KPCLKMf"/>
  <p:tag name="ARTICULATE_DESIGN_ID_1_SAS-EXTERNAL-16X9-2023" val="OvZPFYIY"/>
  <p:tag name="ARTICULATE_DESIGN_ID_CUSTOM DESIGN" val="WASRYxhz"/>
  <p:tag name="ARTICULATE_DESIGN_ID_SAS - EXTERNAL" val="IZ9bNYet"/>
  <p:tag name="ARTICULATE_DESIGN_ID_SAS - EXTERNAL - 16X9 - 2023" val="iju6vBOG"/>
  <p:tag name="ARTICULATE_DESIGN_ID_SAS - EXTERNAL - NDA" val="RR4fBfJW"/>
  <p:tag name="ARTICULATE_DESIGN_ID_SAS-EXTERNAL-16X9-2023" val="CJxW6PTk"/>
  <p:tag name="ARTICULATE_PROJECT_OPEN" val="0"/>
  <p:tag name="ARTICULATE_SLIDE_COUNT" val="11"/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Innovate 2026 - Breakouts, Booths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39A37766-FFC9-4FE2-8548-225942BE952F}" vid="{4EDE4666-7568-4C7C-80D2-E90955051042}"/>
    </a:ext>
  </a:extLst>
</a:theme>
</file>

<file path=ppt/theme/theme2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2C3CF817976B44ABBB668BDB7332E82" ma:contentTypeVersion="8" ma:contentTypeDescription="Create a new document." ma:contentTypeScope="" ma:versionID="633e37800392335902d6b28156220f2c">
  <xsd:schema xmlns:xsd="http://www.w3.org/2001/XMLSchema" xmlns:xs="http://www.w3.org/2001/XMLSchema" xmlns:p="http://schemas.microsoft.com/office/2006/metadata/properties" xmlns:ns2="b9f9006a-0ff1-4513-97ea-302cbfa343c6" targetNamespace="http://schemas.microsoft.com/office/2006/metadata/properties" ma:root="true" ma:fieldsID="4d2c45f457e2d1af2d7af2f857c880bb" ns2:_="">
    <xsd:import namespace="b9f9006a-0ff1-4513-97ea-302cbfa343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f9006a-0ff1-4513-97ea-302cbfa34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9B213C-F564-4F7E-835B-8B2F527CB87A}">
  <ds:schemaRefs>
    <ds:schemaRef ds:uri="b9f9006a-0ff1-4513-97ea-302cbfa343c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3E925E4-5239-4639-A029-07B3CFD6A3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663518-7548-4643-8219-608BFF0DFA0C}">
  <ds:schemaRefs>
    <ds:schemaRef ds:uri="b9f9006a-0ff1-4513-97ea-302cbfa343c6"/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3406</TotalTime>
  <Words>1800</Words>
  <Application>Microsoft Office PowerPoint</Application>
  <PresentationFormat>Custom</PresentationFormat>
  <Paragraphs>197</Paragraphs>
  <Slides>31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Anova Bold</vt:lpstr>
      <vt:lpstr>Anova Light</vt:lpstr>
      <vt:lpstr>SAS Innovate 2026 - Breakouts, Booths</vt:lpstr>
      <vt:lpstr>Claude the SAS Programmer</vt:lpstr>
      <vt:lpstr>Github Link for Powerpoint + Code</vt:lpstr>
      <vt:lpstr>Agenda</vt:lpstr>
      <vt:lpstr>About this presentation</vt:lpstr>
      <vt:lpstr>What is Agentic AI?</vt:lpstr>
      <vt:lpstr>What is Agentic AI?</vt:lpstr>
      <vt:lpstr>Examples of Agentic AI</vt:lpstr>
      <vt:lpstr>Why use Agentic AI?</vt:lpstr>
      <vt:lpstr>Tools for using Agentic AI </vt:lpstr>
      <vt:lpstr>Tools for using Agentic AI</vt:lpstr>
      <vt:lpstr>Tools for using Agentic AI</vt:lpstr>
      <vt:lpstr>Let’s Code!</vt:lpstr>
      <vt:lpstr>The Data Source</vt:lpstr>
      <vt:lpstr>The Prompt </vt:lpstr>
      <vt:lpstr>Tools for using SAS with Agentic AI </vt:lpstr>
      <vt:lpstr>Tools for using Agentic AI with SAS</vt:lpstr>
      <vt:lpstr>Tools for using Agentic AI</vt:lpstr>
      <vt:lpstr>Tools for using Agentic AI</vt:lpstr>
      <vt:lpstr>Tools for using Agentic AI </vt:lpstr>
      <vt:lpstr>connect_saspy.py</vt:lpstr>
      <vt:lpstr>SASPy Best Practices</vt:lpstr>
      <vt:lpstr>Tools for using Agentic AI </vt:lpstr>
      <vt:lpstr>Tools for using Agentic AI </vt:lpstr>
      <vt:lpstr>Prompt Engineering Tips</vt:lpstr>
      <vt:lpstr>Skills – Helping the agent</vt:lpstr>
      <vt:lpstr>Skill Example</vt:lpstr>
      <vt:lpstr>Requirements-driven development</vt:lpstr>
      <vt:lpstr>Example of Requirements.txt</vt:lpstr>
      <vt:lpstr>Other Prompt Best Practices</vt:lpstr>
      <vt:lpstr>Questions?</vt:lpstr>
      <vt:lpstr>Thank you!</vt:lpstr>
    </vt:vector>
  </TitlesOfParts>
  <Company>NORC at the University of Chicago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Matise</dc:creator>
  <cp:lastModifiedBy>Joe Matise</cp:lastModifiedBy>
  <cp:revision>11</cp:revision>
  <dcterms:created xsi:type="dcterms:W3CDTF">2026-04-07T16:49:38Z</dcterms:created>
  <dcterms:modified xsi:type="dcterms:W3CDTF">2026-09-02T20:40:14Z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0x01010032C3CF817976B44ABBB668BDB7332E82</vt:lpwstr>
  </property>
</Properties>
</file>